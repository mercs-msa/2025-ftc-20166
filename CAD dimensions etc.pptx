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200" d="100"/>
          <a:sy n="200" d="100"/>
        </p:scale>
        <p:origin x="-3504" y="-3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E3C6-2287-4F26-BD36-791CEEA28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F4926-A1A8-4E61-9465-DCDD9735D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E35E6-0EDE-467F-A2D9-D2FEB3C4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BCE13-EB51-44ED-80E3-978EB950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62E61-1FBD-4C54-AFE9-5B081012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7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8EC8-EE93-4BBD-8BB9-53794595D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DFEB-AE5E-4AAA-A45A-390712F75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F9329-C65D-4231-BC6A-BB40009E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11F8-7929-4733-83F9-5CDABBE8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27CC2-C6F6-45F9-8801-7859CA74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8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F742-7087-400E-9B68-3689E577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9A743-C8B6-4E8B-B714-A6C334B2D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D7C12-33D3-486E-9170-1D47929A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459F-877D-4229-8252-B546A839F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ED236-59E3-4F14-A24A-381AFCF1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2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82DA-50AD-4963-B25F-1388F89A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3173D-0058-43F6-BFF3-64C88A6C1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02FEE-C426-4D22-BB24-0895CA660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DF2D5-B2A9-4947-952C-17A8E203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9558C-5889-4044-8BC6-B51F7D0C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41D16-9EA4-4D3B-B44A-E4307626D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1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8E5B-570E-4D71-9A75-795D5474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6A58C-E809-4AFF-B112-4D0A67807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2C2BE-9382-44D4-BCEB-4F9DFDA14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9FD774-04BD-467F-84EE-9CA53A347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0BDD9-AF8B-4BAC-9156-188E5029E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494D4-FF12-4AF9-A5FE-A5B50D1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EE36C-EAF1-4B8E-886A-E81A1F9C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7C131-29DC-4ADC-B7B2-07E71C90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8C44-E604-413A-9C24-FCA5D211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BBEDD-2C34-4980-81FA-FE9AC077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9787C-B2BC-4317-96CC-1D448861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D973B-E5DF-46E1-AF99-A945BC75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8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22EC7-6276-4064-A466-55F9729C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57274-599E-4567-ADF5-1EB42B35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62F27-24D4-4709-A64F-8DE2805A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7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97E9-1456-4B9C-857F-9B57162D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8049-5F88-4DA1-9333-8E8F48FBD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EE74-E313-4E2E-B79D-74475A269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88A04-235A-4A44-B673-6F2B7AC4C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3B8F5-1413-4B00-AABB-FB36DE42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3B305-E1F0-4F16-A7A3-E9787462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4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8C03-8AAA-494C-BB90-6F72D4E7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802D6-4286-474A-8F34-D212FF8A5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9AA0B-87EB-446D-A552-A130CA735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27C15-3E7B-4F42-B52C-AC343BB8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A8CC-FBCE-4E8F-B763-48A610B8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FE6C-CA13-4516-A48B-CDEE772D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9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7BD2-AF00-4E31-859C-83E329A27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746AA-7648-4362-9B9B-AE82BFDFC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400F7-7E5E-4B98-B7B7-1A63CCAD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4315E-6D54-4299-974F-EC85B149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68428-82BB-445F-9ABE-20E6A219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9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2CD79-DC36-4704-BF37-234725768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6F1A8-067F-4E54-8602-55AF9B3F1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33025-738A-43A5-98B0-5CB0A777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12B2-6DF0-48F9-90B9-A9822287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465E-7DD4-495C-898E-9FE1FC02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0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1CFE7-C914-4D2A-8A11-8026BB0F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E79B0-8ED9-42D1-826B-971D1F3C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6FAE-70DC-48E9-98F9-91A543622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34A1C-E705-4FDA-A3D4-12001AEA873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30A47-EE20-4AD7-BC88-9011F24A0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1C94D-B7D1-4EB4-A169-890A8645F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231D1-F89B-4EB6-AB61-6107A2ACC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3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D2A844-7213-4605-989D-43C92DDB5BF5}"/>
              </a:ext>
            </a:extLst>
          </p:cNvPr>
          <p:cNvSpPr txBox="1"/>
          <p:nvPr/>
        </p:nvSpPr>
        <p:spPr>
          <a:xfrm>
            <a:off x="232218" y="232084"/>
            <a:ext cx="6145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Shooter base plate core – Use this as the starting sketch for the shooter top and bottom plates. </a:t>
            </a:r>
            <a:br>
              <a:rPr lang="en-US" sz="1200" dirty="0"/>
            </a:br>
            <a:r>
              <a:rPr lang="en-US" sz="1200" dirty="0"/>
              <a:t>The motor mount pattern is centered on the origin for all measurements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792FF-4647-4D9C-8612-9FE8464FC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5" y="875073"/>
            <a:ext cx="2625887" cy="20184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80F14-7B2F-4DB5-852C-8E5DDAEC7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5" y="3049463"/>
            <a:ext cx="3497454" cy="23864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14FFA2-8351-4BC1-AE1A-4B9EF0CFDDEB}"/>
              </a:ext>
            </a:extLst>
          </p:cNvPr>
          <p:cNvSpPr txBox="1"/>
          <p:nvPr/>
        </p:nvSpPr>
        <p:spPr>
          <a:xfrm>
            <a:off x="2816392" y="6025751"/>
            <a:ext cx="1483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Diameter = </a:t>
            </a:r>
            <a:r>
              <a:rPr lang="en-US" sz="1200" dirty="0" err="1"/>
              <a:t>BearingD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BB3D3-C47A-41DF-ABEA-F04B9906B103}"/>
              </a:ext>
            </a:extLst>
          </p:cNvPr>
          <p:cNvSpPr txBox="1"/>
          <p:nvPr/>
        </p:nvSpPr>
        <p:spPr>
          <a:xfrm>
            <a:off x="176120" y="2832986"/>
            <a:ext cx="4368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Plate outline is the ‘hull’ around the primitives. Use tangential lines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0BA33F-CFBD-467C-B0AA-20E6FA116D64}"/>
              </a:ext>
            </a:extLst>
          </p:cNvPr>
          <p:cNvCxnSpPr/>
          <p:nvPr/>
        </p:nvCxnSpPr>
        <p:spPr>
          <a:xfrm flipV="1">
            <a:off x="2769833" y="3049463"/>
            <a:ext cx="2325950" cy="37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1AA193-2CE3-47CF-87B1-0977EED22E36}"/>
              </a:ext>
            </a:extLst>
          </p:cNvPr>
          <p:cNvCxnSpPr>
            <a:cxnSpLocks/>
          </p:cNvCxnSpPr>
          <p:nvPr/>
        </p:nvCxnSpPr>
        <p:spPr>
          <a:xfrm flipV="1">
            <a:off x="3305175" y="3457929"/>
            <a:ext cx="1408868" cy="158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CA858E-338D-41C6-8816-1E985330AF95}"/>
              </a:ext>
            </a:extLst>
          </p:cNvPr>
          <p:cNvCxnSpPr>
            <a:cxnSpLocks/>
          </p:cNvCxnSpPr>
          <p:nvPr/>
        </p:nvCxnSpPr>
        <p:spPr>
          <a:xfrm flipV="1">
            <a:off x="2849732" y="4532405"/>
            <a:ext cx="1713390" cy="110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98B72F-AE9C-4812-850E-2540B7F9FF3A}"/>
              </a:ext>
            </a:extLst>
          </p:cNvPr>
          <p:cNvCxnSpPr/>
          <p:nvPr/>
        </p:nvCxnSpPr>
        <p:spPr>
          <a:xfrm>
            <a:off x="1384917" y="4851420"/>
            <a:ext cx="3178205" cy="66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3D75B5-613A-455F-AAEE-57B5CC40F167}"/>
              </a:ext>
            </a:extLst>
          </p:cNvPr>
          <p:cNvCxnSpPr>
            <a:cxnSpLocks/>
          </p:cNvCxnSpPr>
          <p:nvPr/>
        </p:nvCxnSpPr>
        <p:spPr>
          <a:xfrm>
            <a:off x="745724" y="3616325"/>
            <a:ext cx="3729871" cy="488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8429E6-0BB6-4977-A9C9-6B2868F0746F}"/>
              </a:ext>
            </a:extLst>
          </p:cNvPr>
          <p:cNvSpPr txBox="1"/>
          <p:nvPr/>
        </p:nvSpPr>
        <p:spPr>
          <a:xfrm>
            <a:off x="5043669" y="2910963"/>
            <a:ext cx="3052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Diameter = </a:t>
            </a:r>
            <a:r>
              <a:rPr lang="en-US" sz="1200" dirty="0" err="1"/>
              <a:t>FlywheelDiameter</a:t>
            </a:r>
            <a:r>
              <a:rPr lang="en-US" sz="1200" dirty="0"/>
              <a:t> : Center = [0, 0]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50DD5B-022C-4B03-980D-E842E9E43E18}"/>
              </a:ext>
            </a:extLst>
          </p:cNvPr>
          <p:cNvSpPr txBox="1"/>
          <p:nvPr/>
        </p:nvSpPr>
        <p:spPr>
          <a:xfrm>
            <a:off x="6451390" y="221967"/>
            <a:ext cx="5740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BearingD</a:t>
            </a:r>
            <a:r>
              <a:rPr lang="en-US" sz="1200" dirty="0"/>
              <a:t>		= 14.2 / 25.4 (14.2mm = 0.559”)</a:t>
            </a:r>
            <a:br>
              <a:rPr lang="en-US" sz="1200" dirty="0"/>
            </a:br>
            <a:r>
              <a:rPr lang="en-US" sz="1200" dirty="0" err="1"/>
              <a:t>BallDiameter</a:t>
            </a:r>
            <a:r>
              <a:rPr lang="en-US" sz="1200" dirty="0"/>
              <a:t>		= 5.0”</a:t>
            </a:r>
            <a:br>
              <a:rPr lang="en-US" sz="1200" dirty="0"/>
            </a:br>
            <a:r>
              <a:rPr lang="en-US" sz="1200" dirty="0" err="1"/>
              <a:t>FlywheelDiameter</a:t>
            </a:r>
            <a:r>
              <a:rPr lang="en-US" sz="1200" dirty="0"/>
              <a:t> 	= 3.75”</a:t>
            </a:r>
            <a:br>
              <a:rPr lang="en-US" sz="1200" dirty="0"/>
            </a:br>
            <a:r>
              <a:rPr lang="en-US" sz="1200" dirty="0" err="1"/>
              <a:t>FlywheelClearance</a:t>
            </a:r>
            <a:r>
              <a:rPr lang="en-US" sz="1200" dirty="0"/>
              <a:t>	= (</a:t>
            </a:r>
            <a:r>
              <a:rPr lang="en-US" sz="1200" dirty="0" err="1"/>
              <a:t>FlywheelDiameter</a:t>
            </a:r>
            <a:r>
              <a:rPr lang="en-US" sz="1200" dirty="0"/>
              <a:t> / 2) + 0.5”</a:t>
            </a:r>
            <a:br>
              <a:rPr lang="en-US" sz="1200" dirty="0"/>
            </a:br>
            <a:r>
              <a:rPr lang="en-US" sz="1200" dirty="0" err="1"/>
              <a:t>BallCompression</a:t>
            </a:r>
            <a:r>
              <a:rPr lang="en-US" sz="1200" dirty="0"/>
              <a:t>	= 0.2” (NOTE : NOT 0.25” as I previously said!!)</a:t>
            </a:r>
            <a:br>
              <a:rPr lang="en-US" sz="1200" dirty="0"/>
            </a:br>
            <a:r>
              <a:rPr lang="en-US" sz="1200" dirty="0" err="1"/>
              <a:t>ShooterInnerCurveRadius</a:t>
            </a:r>
            <a:r>
              <a:rPr lang="en-US" sz="1200" dirty="0"/>
              <a:t> 	= (</a:t>
            </a:r>
            <a:r>
              <a:rPr lang="en-US" sz="1200" dirty="0" err="1"/>
              <a:t>FlywheelDiameter</a:t>
            </a:r>
            <a:r>
              <a:rPr lang="en-US" sz="1200" dirty="0"/>
              <a:t> / 2) + </a:t>
            </a:r>
            <a:r>
              <a:rPr lang="en-US" sz="1200" dirty="0" err="1"/>
              <a:t>BallDiameter</a:t>
            </a:r>
            <a:r>
              <a:rPr lang="en-US" sz="1200" dirty="0"/>
              <a:t> - </a:t>
            </a:r>
            <a:r>
              <a:rPr lang="en-US" sz="1200" dirty="0" err="1"/>
              <a:t>BallCompression</a:t>
            </a:r>
            <a:r>
              <a:rPr lang="en-US" sz="1200" dirty="0"/>
              <a:t>;</a:t>
            </a:r>
            <a:br>
              <a:rPr lang="en-US" sz="1200" dirty="0"/>
            </a:br>
            <a:r>
              <a:rPr lang="en-US" sz="1200" dirty="0" err="1"/>
              <a:t>CurveBallPathSegmentAngle</a:t>
            </a:r>
            <a:r>
              <a:rPr lang="en-US" sz="1200" dirty="0"/>
              <a:t>	= 50 degrees</a:t>
            </a:r>
            <a:br>
              <a:rPr lang="en-US" sz="1200" dirty="0"/>
            </a:br>
            <a:r>
              <a:rPr lang="en-US" sz="1200" dirty="0" err="1"/>
              <a:t>CurveBallPathExtension</a:t>
            </a:r>
            <a:r>
              <a:rPr lang="en-US" sz="1200" dirty="0"/>
              <a:t>	= 0.4”</a:t>
            </a:r>
            <a:br>
              <a:rPr lang="en-US" sz="1200" dirty="0"/>
            </a:br>
            <a:r>
              <a:rPr lang="en-US" sz="1200" dirty="0"/>
              <a:t>M4FreeHoleD		= 4.1 / 25.4 (4.1mm = 0.161417”)</a:t>
            </a:r>
            <a:br>
              <a:rPr lang="en-US" sz="1200" dirty="0"/>
            </a:br>
            <a:r>
              <a:rPr lang="en-US" sz="1200" dirty="0" err="1"/>
              <a:t>ShooterPlateT</a:t>
            </a:r>
            <a:r>
              <a:rPr lang="en-US" sz="1200" dirty="0"/>
              <a:t>		= 0.18”</a:t>
            </a:r>
            <a:br>
              <a:rPr lang="en-US" sz="1200" dirty="0"/>
            </a:br>
            <a:r>
              <a:rPr lang="en-US" sz="1200" dirty="0" err="1"/>
              <a:t>UpperBallTractionGap</a:t>
            </a:r>
            <a:r>
              <a:rPr lang="en-US" sz="1200" dirty="0"/>
              <a:t>	= 1.0”</a:t>
            </a:r>
            <a:br>
              <a:rPr lang="en-US" sz="1200" dirty="0"/>
            </a:br>
            <a:r>
              <a:rPr lang="en-US" sz="1200" dirty="0" err="1"/>
              <a:t>UpperBallTractionLocation</a:t>
            </a:r>
            <a:r>
              <a:rPr lang="en-US" sz="1200" dirty="0"/>
              <a:t> 	= [-0.4”, -3.3”]</a:t>
            </a:r>
            <a:br>
              <a:rPr lang="en-US" sz="1200" dirty="0"/>
            </a:br>
            <a:r>
              <a:rPr lang="en-US" sz="1200" dirty="0" err="1"/>
              <a:t>ServoBlockLength</a:t>
            </a:r>
            <a:r>
              <a:rPr lang="en-US" sz="1200" dirty="0"/>
              <a:t> 	= 2.7”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5B1611-2E0B-4837-9BF6-CC3D447FA6B6}"/>
              </a:ext>
            </a:extLst>
          </p:cNvPr>
          <p:cNvSpPr txBox="1"/>
          <p:nvPr/>
        </p:nvSpPr>
        <p:spPr>
          <a:xfrm>
            <a:off x="4672287" y="3319429"/>
            <a:ext cx="5231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Diameter = 0.3” : Center = [</a:t>
            </a:r>
            <a:r>
              <a:rPr lang="en-US" sz="1200" dirty="0" err="1"/>
              <a:t>FlywheelClearance</a:t>
            </a:r>
            <a:r>
              <a:rPr lang="en-US" sz="1200" dirty="0"/>
              <a:t> - (0.3 / 2), </a:t>
            </a:r>
            <a:r>
              <a:rPr lang="en-US" sz="1200" dirty="0" err="1"/>
              <a:t>CurveBallPathExtension</a:t>
            </a:r>
            <a:r>
              <a:rPr lang="en-US" sz="1200" dirty="0"/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93EDD3-5A55-449D-9E38-C66B6A640258}"/>
              </a:ext>
            </a:extLst>
          </p:cNvPr>
          <p:cNvSpPr txBox="1"/>
          <p:nvPr/>
        </p:nvSpPr>
        <p:spPr>
          <a:xfrm>
            <a:off x="4460703" y="3968979"/>
            <a:ext cx="5481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Diameter = 0.3” : [-</a:t>
            </a:r>
            <a:r>
              <a:rPr lang="en-US" sz="1200" dirty="0" err="1"/>
              <a:t>ShooterInnerCurveRadius</a:t>
            </a:r>
            <a:r>
              <a:rPr lang="en-US" sz="1200" dirty="0"/>
              <a:t> + .3 + (0.3 / 2), </a:t>
            </a:r>
            <a:r>
              <a:rPr lang="en-US" sz="1200" dirty="0" err="1"/>
              <a:t>CurveBallPathExtension</a:t>
            </a:r>
            <a:r>
              <a:rPr lang="en-US" sz="1200" dirty="0"/>
              <a:t>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060571-9CCE-441C-9561-738B698A3561}"/>
              </a:ext>
            </a:extLst>
          </p:cNvPr>
          <p:cNvSpPr txBox="1"/>
          <p:nvPr/>
        </p:nvSpPr>
        <p:spPr>
          <a:xfrm>
            <a:off x="4540602" y="4395107"/>
            <a:ext cx="4539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Diameter = 5” : Center = [</a:t>
            </a:r>
            <a:r>
              <a:rPr lang="en-US" sz="1200" dirty="0" err="1"/>
              <a:t>FlywheelClearance</a:t>
            </a:r>
            <a:r>
              <a:rPr lang="en-US" sz="1200" dirty="0"/>
              <a:t> - (5” / 2), -4.88 + (5” / 2)]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F0421E-A013-4C61-9705-809BC45D4773}"/>
              </a:ext>
            </a:extLst>
          </p:cNvPr>
          <p:cNvSpPr txBox="1"/>
          <p:nvPr/>
        </p:nvSpPr>
        <p:spPr>
          <a:xfrm>
            <a:off x="4545368" y="4785004"/>
            <a:ext cx="5904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Radius = </a:t>
            </a:r>
            <a:r>
              <a:rPr lang="en-US" sz="1200" dirty="0" err="1"/>
              <a:t>ShooterInnerCurveRadius</a:t>
            </a:r>
            <a:r>
              <a:rPr lang="en-US" sz="1200" dirty="0"/>
              <a:t> - 0.3”, Arc = </a:t>
            </a:r>
            <a:r>
              <a:rPr lang="en-US" sz="1200" dirty="0" err="1"/>
              <a:t>CurveBallPathSegmentAngle</a:t>
            </a:r>
            <a:r>
              <a:rPr lang="en-US" sz="1200" dirty="0"/>
              <a:t> : Center = [0, 0]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C9FC673-F4C1-4AD0-87C7-E43E4E29B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511" y="5373249"/>
            <a:ext cx="1334279" cy="1234052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939012-32DB-4650-AC4D-E5D3B7564D18}"/>
              </a:ext>
            </a:extLst>
          </p:cNvPr>
          <p:cNvCxnSpPr/>
          <p:nvPr/>
        </p:nvCxnSpPr>
        <p:spPr>
          <a:xfrm>
            <a:off x="1957388" y="5601029"/>
            <a:ext cx="14430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7428E6-5E3E-40E9-81DB-0B7584BC292B}"/>
              </a:ext>
            </a:extLst>
          </p:cNvPr>
          <p:cNvCxnSpPr/>
          <p:nvPr/>
        </p:nvCxnSpPr>
        <p:spPr>
          <a:xfrm>
            <a:off x="1957388" y="5953125"/>
            <a:ext cx="1443037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07E9EFC-A197-4BBD-97F2-08BD9ACA165D}"/>
              </a:ext>
            </a:extLst>
          </p:cNvPr>
          <p:cNvCxnSpPr/>
          <p:nvPr/>
        </p:nvCxnSpPr>
        <p:spPr>
          <a:xfrm flipV="1">
            <a:off x="3025382" y="5601029"/>
            <a:ext cx="0" cy="3520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0CEE50C-8014-4ED0-8D27-4840C4A9F7E4}"/>
              </a:ext>
            </a:extLst>
          </p:cNvPr>
          <p:cNvSpPr txBox="1"/>
          <p:nvPr/>
        </p:nvSpPr>
        <p:spPr>
          <a:xfrm>
            <a:off x="3018408" y="5646198"/>
            <a:ext cx="1851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8mm = 8/25.4” = 0.31496”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D8F118-2CD8-4473-AC9D-14A2D6F6403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157413" y="6056354"/>
            <a:ext cx="658979" cy="107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2E3FA-9CBC-45B6-BA15-E9C4A56F9F35}"/>
              </a:ext>
            </a:extLst>
          </p:cNvPr>
          <p:cNvCxnSpPr/>
          <p:nvPr/>
        </p:nvCxnSpPr>
        <p:spPr>
          <a:xfrm>
            <a:off x="2033588" y="6302750"/>
            <a:ext cx="816144" cy="112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22D4A2D-56CF-4363-9D68-3D2217C5667C}"/>
              </a:ext>
            </a:extLst>
          </p:cNvPr>
          <p:cNvSpPr txBox="1"/>
          <p:nvPr/>
        </p:nvSpPr>
        <p:spPr>
          <a:xfrm>
            <a:off x="2787817" y="6287689"/>
            <a:ext cx="1784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Diameter = M4FreeHoleD</a:t>
            </a:r>
          </a:p>
        </p:txBody>
      </p:sp>
    </p:spTree>
    <p:extLst>
      <p:ext uri="{BB962C8B-B14F-4D97-AF65-F5344CB8AC3E}">
        <p14:creationId xmlns:p14="http://schemas.microsoft.com/office/powerpoint/2010/main" val="257008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4592E1-3B08-40FA-8B9A-5CFC73C04E11}"/>
              </a:ext>
            </a:extLst>
          </p:cNvPr>
          <p:cNvSpPr txBox="1"/>
          <p:nvPr/>
        </p:nvSpPr>
        <p:spPr>
          <a:xfrm>
            <a:off x="4676775" y="180975"/>
            <a:ext cx="16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Mounting holes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B53ED-727F-4A61-94B4-BDC5A417E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28" y="550307"/>
            <a:ext cx="7125694" cy="580153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CC2ED9-FDFD-463B-94F8-F19256EAE6BB}"/>
              </a:ext>
            </a:extLst>
          </p:cNvPr>
          <p:cNvCxnSpPr>
            <a:cxnSpLocks/>
          </p:cNvCxnSpPr>
          <p:nvPr/>
        </p:nvCxnSpPr>
        <p:spPr>
          <a:xfrm flipV="1">
            <a:off x="2636668" y="1143000"/>
            <a:ext cx="5345282" cy="1277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020C42-A4F6-4A29-B584-B5BBF5137FA3}"/>
              </a:ext>
            </a:extLst>
          </p:cNvPr>
          <p:cNvSpPr txBox="1"/>
          <p:nvPr/>
        </p:nvSpPr>
        <p:spPr>
          <a:xfrm>
            <a:off x="7953375" y="998220"/>
            <a:ext cx="3092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Radius = </a:t>
            </a:r>
            <a:r>
              <a:rPr lang="en-US" sz="1200" dirty="0" err="1"/>
              <a:t>ShooterInnerCurveRadius</a:t>
            </a:r>
            <a:r>
              <a:rPr lang="en-US" sz="1200" dirty="0"/>
              <a:t> - 0.3” - 0.2”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97E9B1-EDF4-4ECE-91CD-3EF081EC16E8}"/>
              </a:ext>
            </a:extLst>
          </p:cNvPr>
          <p:cNvCxnSpPr>
            <a:cxnSpLocks/>
          </p:cNvCxnSpPr>
          <p:nvPr/>
        </p:nvCxnSpPr>
        <p:spPr>
          <a:xfrm flipH="1">
            <a:off x="1228726" y="2438400"/>
            <a:ext cx="4213224" cy="88582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A64659-E03A-4777-A282-132EFEDFA646}"/>
              </a:ext>
            </a:extLst>
          </p:cNvPr>
          <p:cNvCxnSpPr>
            <a:cxnSpLocks/>
          </p:cNvCxnSpPr>
          <p:nvPr/>
        </p:nvCxnSpPr>
        <p:spPr>
          <a:xfrm flipV="1">
            <a:off x="1476375" y="2438400"/>
            <a:ext cx="3965575" cy="17526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6FF3BC-CE66-411A-BD97-0F5EDEBC0F65}"/>
              </a:ext>
            </a:extLst>
          </p:cNvPr>
          <p:cNvCxnSpPr>
            <a:cxnSpLocks/>
          </p:cNvCxnSpPr>
          <p:nvPr/>
        </p:nvCxnSpPr>
        <p:spPr>
          <a:xfrm flipH="1" flipV="1">
            <a:off x="4562475" y="2625725"/>
            <a:ext cx="55246" cy="18605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2E465D-0D58-4237-8425-1F530FFDA6EE}"/>
              </a:ext>
            </a:extLst>
          </p:cNvPr>
          <p:cNvCxnSpPr>
            <a:cxnSpLocks/>
          </p:cNvCxnSpPr>
          <p:nvPr/>
        </p:nvCxnSpPr>
        <p:spPr>
          <a:xfrm flipV="1">
            <a:off x="4676775" y="2153604"/>
            <a:ext cx="3276600" cy="551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F156DE-D77B-4427-A14B-C6CF39D355BD}"/>
              </a:ext>
            </a:extLst>
          </p:cNvPr>
          <p:cNvCxnSpPr/>
          <p:nvPr/>
        </p:nvCxnSpPr>
        <p:spPr>
          <a:xfrm flipH="1">
            <a:off x="1143000" y="2438400"/>
            <a:ext cx="4298950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BB3515-8894-4B06-BBE2-994AD1CDC8CF}"/>
              </a:ext>
            </a:extLst>
          </p:cNvPr>
          <p:cNvSpPr txBox="1"/>
          <p:nvPr/>
        </p:nvSpPr>
        <p:spPr>
          <a:xfrm>
            <a:off x="7927760" y="2001453"/>
            <a:ext cx="1373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Angle = 12 degrees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85C611-86D9-43EA-BB71-E86BC124AF09}"/>
              </a:ext>
            </a:extLst>
          </p:cNvPr>
          <p:cNvSpPr txBox="1"/>
          <p:nvPr/>
        </p:nvSpPr>
        <p:spPr>
          <a:xfrm>
            <a:off x="115410" y="4561034"/>
            <a:ext cx="1546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 holes evenly spaced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B920E-6DE1-483D-A129-20F8C952096F}"/>
              </a:ext>
            </a:extLst>
          </p:cNvPr>
          <p:cNvCxnSpPr/>
          <p:nvPr/>
        </p:nvCxnSpPr>
        <p:spPr>
          <a:xfrm>
            <a:off x="6850856" y="3429000"/>
            <a:ext cx="1042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926B39-140B-4073-AC6E-BF4C3EA19CB3}"/>
              </a:ext>
            </a:extLst>
          </p:cNvPr>
          <p:cNvCxnSpPr/>
          <p:nvPr/>
        </p:nvCxnSpPr>
        <p:spPr>
          <a:xfrm>
            <a:off x="6846094" y="3752850"/>
            <a:ext cx="10501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53461D-873B-4832-BBD0-E3A8C9C46582}"/>
              </a:ext>
            </a:extLst>
          </p:cNvPr>
          <p:cNvCxnSpPr/>
          <p:nvPr/>
        </p:nvCxnSpPr>
        <p:spPr>
          <a:xfrm flipV="1">
            <a:off x="7589044" y="3429000"/>
            <a:ext cx="0" cy="32385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9090BAD-A9DC-440B-AEA7-7DAA01C8EE77}"/>
              </a:ext>
            </a:extLst>
          </p:cNvPr>
          <p:cNvSpPr txBox="1"/>
          <p:nvPr/>
        </p:nvSpPr>
        <p:spPr>
          <a:xfrm>
            <a:off x="7744322" y="3590925"/>
            <a:ext cx="2034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 / 25.4  (12mm = 0.47244”)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A3C7A66-30B2-43FF-B960-32AA91A59B57}"/>
              </a:ext>
            </a:extLst>
          </p:cNvPr>
          <p:cNvCxnSpPr>
            <a:cxnSpLocks/>
          </p:cNvCxnSpPr>
          <p:nvPr/>
        </p:nvCxnSpPr>
        <p:spPr>
          <a:xfrm>
            <a:off x="5441950" y="2650331"/>
            <a:ext cx="0" cy="2074069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F29F3AE-4DC2-427F-8758-B32590C9081E}"/>
              </a:ext>
            </a:extLst>
          </p:cNvPr>
          <p:cNvCxnSpPr>
            <a:cxnSpLocks/>
          </p:cNvCxnSpPr>
          <p:nvPr/>
        </p:nvCxnSpPr>
        <p:spPr>
          <a:xfrm>
            <a:off x="6846094" y="4095750"/>
            <a:ext cx="0" cy="62865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8A441C5-94A7-43CA-853D-AD2D0215D02F}"/>
              </a:ext>
            </a:extLst>
          </p:cNvPr>
          <p:cNvCxnSpPr>
            <a:cxnSpLocks/>
          </p:cNvCxnSpPr>
          <p:nvPr/>
        </p:nvCxnSpPr>
        <p:spPr>
          <a:xfrm flipH="1">
            <a:off x="5441950" y="4561034"/>
            <a:ext cx="1404144" cy="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7E8596-4982-4859-9933-43D25A198359}"/>
              </a:ext>
            </a:extLst>
          </p:cNvPr>
          <p:cNvCxnSpPr/>
          <p:nvPr/>
        </p:nvCxnSpPr>
        <p:spPr>
          <a:xfrm>
            <a:off x="6203950" y="4561034"/>
            <a:ext cx="1385094" cy="703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15D5073-9BD4-4B04-9F37-6121752F77A3}"/>
              </a:ext>
            </a:extLst>
          </p:cNvPr>
          <p:cNvSpPr txBox="1"/>
          <p:nvPr/>
        </p:nvSpPr>
        <p:spPr>
          <a:xfrm>
            <a:off x="7585572" y="5130800"/>
            <a:ext cx="3046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FlywheelClearance</a:t>
            </a:r>
            <a:r>
              <a:rPr lang="en-US" sz="1200" dirty="0"/>
              <a:t> - </a:t>
            </a:r>
            <a:r>
              <a:rPr lang="en-US" sz="1200" dirty="0" err="1"/>
              <a:t>ShooterPlateT</a:t>
            </a:r>
            <a:r>
              <a:rPr lang="en-US" sz="1200" dirty="0"/>
              <a:t> - (4 / 25.4)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84838A-7E28-4D79-A37F-BA9F4E4387B4}"/>
              </a:ext>
            </a:extLst>
          </p:cNvPr>
          <p:cNvSpPr txBox="1"/>
          <p:nvPr/>
        </p:nvSpPr>
        <p:spPr>
          <a:xfrm>
            <a:off x="9969623" y="5761608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4mm = 0.15748”</a:t>
            </a:r>
          </a:p>
        </p:txBody>
      </p:sp>
    </p:spTree>
    <p:extLst>
      <p:ext uri="{BB962C8B-B14F-4D97-AF65-F5344CB8AC3E}">
        <p14:creationId xmlns:p14="http://schemas.microsoft.com/office/powerpoint/2010/main" val="381655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489F84-66D9-4B0B-AEBB-5BB94B800635}"/>
              </a:ext>
            </a:extLst>
          </p:cNvPr>
          <p:cNvSpPr txBox="1"/>
          <p:nvPr/>
        </p:nvSpPr>
        <p:spPr>
          <a:xfrm>
            <a:off x="2949049" y="111148"/>
            <a:ext cx="6293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Shooter base plate top starts with the above Shooter base plate core and adds the following holes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EDDB0-0219-407A-AF0A-DC7D3EDF2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890" y="1572310"/>
            <a:ext cx="4847853" cy="409668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5896A7-A1C8-405F-94B3-1BA93063A522}"/>
              </a:ext>
            </a:extLst>
          </p:cNvPr>
          <p:cNvCxnSpPr>
            <a:cxnSpLocks/>
          </p:cNvCxnSpPr>
          <p:nvPr/>
        </p:nvCxnSpPr>
        <p:spPr>
          <a:xfrm>
            <a:off x="3878580" y="1605676"/>
            <a:ext cx="3327236" cy="2239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5001C69-C337-4B3A-8D72-AF8D2CB32657}"/>
              </a:ext>
            </a:extLst>
          </p:cNvPr>
          <p:cNvSpPr txBox="1"/>
          <p:nvPr/>
        </p:nvSpPr>
        <p:spPr>
          <a:xfrm>
            <a:off x="890972" y="1097265"/>
            <a:ext cx="5407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Corner coordinates : X = </a:t>
            </a:r>
            <a:r>
              <a:rPr lang="en-US" sz="1200" dirty="0" err="1"/>
              <a:t>UpperBallTractionLocation</a:t>
            </a:r>
            <a:r>
              <a:rPr lang="en-US" sz="1200" dirty="0"/>
              <a:t>[X] - </a:t>
            </a:r>
            <a:r>
              <a:rPr lang="en-US" sz="1200" dirty="0" err="1"/>
              <a:t>UpperBallTractionGap</a:t>
            </a:r>
            <a:r>
              <a:rPr lang="en-US" sz="1200" dirty="0"/>
              <a:t> - 0.5”</a:t>
            </a:r>
            <a:br>
              <a:rPr lang="en-US" sz="1200" dirty="0"/>
            </a:br>
            <a:r>
              <a:rPr lang="en-US" sz="1200" dirty="0"/>
              <a:t>                                     Y = </a:t>
            </a:r>
            <a:r>
              <a:rPr lang="en-US" sz="1200" dirty="0" err="1"/>
              <a:t>UpperBallTractionLocation</a:t>
            </a:r>
            <a:r>
              <a:rPr lang="en-US" sz="1200" dirty="0"/>
              <a:t>[Y] - 1.7”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657257-68A7-4F3F-B4AE-94ACAF110C82}"/>
              </a:ext>
            </a:extLst>
          </p:cNvPr>
          <p:cNvCxnSpPr>
            <a:cxnSpLocks/>
          </p:cNvCxnSpPr>
          <p:nvPr/>
        </p:nvCxnSpPr>
        <p:spPr>
          <a:xfrm>
            <a:off x="7205816" y="5332095"/>
            <a:ext cx="0" cy="40188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57CFE8-6753-46CF-83D7-19D5D2DA1FED}"/>
              </a:ext>
            </a:extLst>
          </p:cNvPr>
          <p:cNvCxnSpPr>
            <a:cxnSpLocks/>
          </p:cNvCxnSpPr>
          <p:nvPr/>
        </p:nvCxnSpPr>
        <p:spPr>
          <a:xfrm>
            <a:off x="7731760" y="5322570"/>
            <a:ext cx="0" cy="41141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AB6683-6555-4178-8BA3-8E8375C08117}"/>
              </a:ext>
            </a:extLst>
          </p:cNvPr>
          <p:cNvCxnSpPr>
            <a:stCxn id="6" idx="2"/>
          </p:cNvCxnSpPr>
          <p:nvPr/>
        </p:nvCxnSpPr>
        <p:spPr>
          <a:xfrm>
            <a:off x="7205817" y="5668999"/>
            <a:ext cx="525943" cy="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246A1-97A1-4EA6-9EEF-61BEBBC9D62D}"/>
              </a:ext>
            </a:extLst>
          </p:cNvPr>
          <p:cNvSpPr/>
          <p:nvPr/>
        </p:nvSpPr>
        <p:spPr>
          <a:xfrm>
            <a:off x="6763539" y="5733981"/>
            <a:ext cx="15569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UpperBallTractionGap</a:t>
            </a:r>
            <a:endParaRPr lang="en-US" sz="12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328119-D5AA-4911-84D0-BC9136270CAA}"/>
              </a:ext>
            </a:extLst>
          </p:cNvPr>
          <p:cNvCxnSpPr>
            <a:cxnSpLocks/>
          </p:cNvCxnSpPr>
          <p:nvPr/>
        </p:nvCxnSpPr>
        <p:spPr>
          <a:xfrm flipV="1">
            <a:off x="6411906" y="4500563"/>
            <a:ext cx="1574807" cy="102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C5A8C2-3CB0-4E55-8837-FD2AB1102A88}"/>
              </a:ext>
            </a:extLst>
          </p:cNvPr>
          <p:cNvCxnSpPr/>
          <p:nvPr/>
        </p:nvCxnSpPr>
        <p:spPr>
          <a:xfrm flipH="1">
            <a:off x="6710363" y="4052887"/>
            <a:ext cx="48750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E78C1C6-FA3A-4967-9EE2-4630C1B198CB}"/>
              </a:ext>
            </a:extLst>
          </p:cNvPr>
          <p:cNvCxnSpPr/>
          <p:nvPr/>
        </p:nvCxnSpPr>
        <p:spPr>
          <a:xfrm flipH="1">
            <a:off x="6710363" y="4567237"/>
            <a:ext cx="48750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F20B7B-E13C-482F-99BA-8D06B41CF9EB}"/>
              </a:ext>
            </a:extLst>
          </p:cNvPr>
          <p:cNvCxnSpPr>
            <a:cxnSpLocks/>
          </p:cNvCxnSpPr>
          <p:nvPr/>
        </p:nvCxnSpPr>
        <p:spPr>
          <a:xfrm flipV="1">
            <a:off x="6872288" y="4052887"/>
            <a:ext cx="0" cy="51435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140AEB-80D2-41BE-AA61-35CE12421DA6}"/>
              </a:ext>
            </a:extLst>
          </p:cNvPr>
          <p:cNvCxnSpPr>
            <a:cxnSpLocks/>
          </p:cNvCxnSpPr>
          <p:nvPr/>
        </p:nvCxnSpPr>
        <p:spPr>
          <a:xfrm flipH="1">
            <a:off x="7850981" y="4500563"/>
            <a:ext cx="113744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0C9F8D3-FF11-430F-BBCE-62D724F0A834}"/>
              </a:ext>
            </a:extLst>
          </p:cNvPr>
          <p:cNvCxnSpPr>
            <a:cxnSpLocks/>
          </p:cNvCxnSpPr>
          <p:nvPr/>
        </p:nvCxnSpPr>
        <p:spPr>
          <a:xfrm flipH="1">
            <a:off x="7984330" y="4093369"/>
            <a:ext cx="23184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53038E-7018-41A6-8078-12E4D9E802EC}"/>
              </a:ext>
            </a:extLst>
          </p:cNvPr>
          <p:cNvCxnSpPr>
            <a:cxnSpLocks/>
          </p:cNvCxnSpPr>
          <p:nvPr/>
        </p:nvCxnSpPr>
        <p:spPr>
          <a:xfrm flipH="1">
            <a:off x="7984330" y="4941094"/>
            <a:ext cx="231848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5D4D73-DFED-417E-AB66-99E800EDB3DD}"/>
              </a:ext>
            </a:extLst>
          </p:cNvPr>
          <p:cNvCxnSpPr>
            <a:cxnSpLocks/>
          </p:cNvCxnSpPr>
          <p:nvPr/>
        </p:nvCxnSpPr>
        <p:spPr>
          <a:xfrm flipV="1">
            <a:off x="8134350" y="4093370"/>
            <a:ext cx="0" cy="411955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DC98A98-5425-4057-AAEF-E3BD5D65246E}"/>
              </a:ext>
            </a:extLst>
          </p:cNvPr>
          <p:cNvCxnSpPr>
            <a:cxnSpLocks/>
          </p:cNvCxnSpPr>
          <p:nvPr/>
        </p:nvCxnSpPr>
        <p:spPr>
          <a:xfrm flipH="1">
            <a:off x="7984330" y="3898106"/>
            <a:ext cx="100409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6803241-561B-42B8-A326-054CD65CD67D}"/>
              </a:ext>
            </a:extLst>
          </p:cNvPr>
          <p:cNvCxnSpPr>
            <a:cxnSpLocks/>
          </p:cNvCxnSpPr>
          <p:nvPr/>
        </p:nvCxnSpPr>
        <p:spPr>
          <a:xfrm flipH="1">
            <a:off x="7984331" y="5133975"/>
            <a:ext cx="1004094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B3A23AD-46D4-4BA7-8091-C6E5E124AABA}"/>
              </a:ext>
            </a:extLst>
          </p:cNvPr>
          <p:cNvCxnSpPr>
            <a:cxnSpLocks/>
          </p:cNvCxnSpPr>
          <p:nvPr/>
        </p:nvCxnSpPr>
        <p:spPr>
          <a:xfrm flipV="1">
            <a:off x="8915049" y="3898107"/>
            <a:ext cx="0" cy="602456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1957ED4-F50B-4BFA-8F8B-401271BD7B8A}"/>
              </a:ext>
            </a:extLst>
          </p:cNvPr>
          <p:cNvCxnSpPr>
            <a:cxnSpLocks/>
          </p:cNvCxnSpPr>
          <p:nvPr/>
        </p:nvCxnSpPr>
        <p:spPr>
          <a:xfrm>
            <a:off x="7984330" y="3743399"/>
            <a:ext cx="0" cy="153821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E9B3BA6-919D-4D60-91F0-A76511E0C949}"/>
              </a:ext>
            </a:extLst>
          </p:cNvPr>
          <p:cNvSpPr txBox="1"/>
          <p:nvPr/>
        </p:nvSpPr>
        <p:spPr>
          <a:xfrm>
            <a:off x="5067462" y="5446538"/>
            <a:ext cx="1836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UpperBallTractionLocation</a:t>
            </a:r>
            <a:endParaRPr lang="en-US" sz="12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00B659-BD7A-4E36-9B24-0B9AB7FFB37B}"/>
              </a:ext>
            </a:extLst>
          </p:cNvPr>
          <p:cNvSpPr txBox="1"/>
          <p:nvPr/>
        </p:nvSpPr>
        <p:spPr>
          <a:xfrm>
            <a:off x="8875830" y="4019967"/>
            <a:ext cx="2078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ServoBlockLength</a:t>
            </a:r>
            <a:r>
              <a:rPr lang="en-US" sz="1200" dirty="0"/>
              <a:t> / 2) – 0.15”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31D5247-D8EA-4F88-81D0-F6B8C9836268}"/>
              </a:ext>
            </a:extLst>
          </p:cNvPr>
          <p:cNvSpPr txBox="1"/>
          <p:nvPr/>
        </p:nvSpPr>
        <p:spPr>
          <a:xfrm>
            <a:off x="8875830" y="4622037"/>
            <a:ext cx="2078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ServoBlockLength</a:t>
            </a:r>
            <a:r>
              <a:rPr lang="en-US" sz="1200" dirty="0"/>
              <a:t> / 2) – 0.15”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EAF138-3F80-44CA-A743-CBB36961AD6A}"/>
              </a:ext>
            </a:extLst>
          </p:cNvPr>
          <p:cNvSpPr txBox="1"/>
          <p:nvPr/>
        </p:nvSpPr>
        <p:spPr>
          <a:xfrm>
            <a:off x="8084961" y="4189809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0.827”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14D1724-5D16-4392-8D5E-F0CBFC82512D}"/>
              </a:ext>
            </a:extLst>
          </p:cNvPr>
          <p:cNvSpPr txBox="1"/>
          <p:nvPr/>
        </p:nvSpPr>
        <p:spPr>
          <a:xfrm>
            <a:off x="8084961" y="4573535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0.827”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65A5E1A-AB98-4ECF-BA91-BD8E58BAB335}"/>
              </a:ext>
            </a:extLst>
          </p:cNvPr>
          <p:cNvCxnSpPr>
            <a:cxnSpLocks/>
          </p:cNvCxnSpPr>
          <p:nvPr/>
        </p:nvCxnSpPr>
        <p:spPr>
          <a:xfrm flipV="1">
            <a:off x="8915049" y="4500563"/>
            <a:ext cx="0" cy="633412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EA2B5B9-CB7A-4079-9ADF-D5B253B779E0}"/>
              </a:ext>
            </a:extLst>
          </p:cNvPr>
          <p:cNvCxnSpPr>
            <a:cxnSpLocks/>
          </p:cNvCxnSpPr>
          <p:nvPr/>
        </p:nvCxnSpPr>
        <p:spPr>
          <a:xfrm flipV="1">
            <a:off x="8134350" y="4500564"/>
            <a:ext cx="0" cy="44053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0A36438-B8F3-4F58-A5E0-EC75843C1626}"/>
              </a:ext>
            </a:extLst>
          </p:cNvPr>
          <p:cNvCxnSpPr>
            <a:cxnSpLocks/>
          </p:cNvCxnSpPr>
          <p:nvPr/>
        </p:nvCxnSpPr>
        <p:spPr>
          <a:xfrm>
            <a:off x="7136605" y="3984625"/>
            <a:ext cx="0" cy="69215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11E8081-61FA-4665-9E36-9AFB9CD430FA}"/>
              </a:ext>
            </a:extLst>
          </p:cNvPr>
          <p:cNvSpPr txBox="1"/>
          <p:nvPr/>
        </p:nvSpPr>
        <p:spPr>
          <a:xfrm>
            <a:off x="6491581" y="4160847"/>
            <a:ext cx="444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1.0”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31AE6D6-A376-4696-B9E3-0E0F5C3DDD54}"/>
              </a:ext>
            </a:extLst>
          </p:cNvPr>
          <p:cNvCxnSpPr>
            <a:cxnSpLocks/>
          </p:cNvCxnSpPr>
          <p:nvPr/>
        </p:nvCxnSpPr>
        <p:spPr>
          <a:xfrm flipV="1">
            <a:off x="3591810" y="4577683"/>
            <a:ext cx="3534511" cy="143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A452F58A-EBC1-43F5-B53F-4CAEADC9C316}"/>
              </a:ext>
            </a:extLst>
          </p:cNvPr>
          <p:cNvSpPr txBox="1"/>
          <p:nvPr/>
        </p:nvSpPr>
        <p:spPr>
          <a:xfrm>
            <a:off x="399418" y="6010980"/>
            <a:ext cx="4963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Coordinates : X = </a:t>
            </a:r>
            <a:r>
              <a:rPr lang="en-US" sz="1200" dirty="0" err="1"/>
              <a:t>UpperBallTractionLocation</a:t>
            </a:r>
            <a:r>
              <a:rPr lang="en-US" sz="1200" dirty="0"/>
              <a:t>[X] - </a:t>
            </a:r>
            <a:r>
              <a:rPr lang="en-US" sz="1200" dirty="0" err="1"/>
              <a:t>UpperBallTractionGap</a:t>
            </a:r>
            <a:r>
              <a:rPr lang="en-US" sz="1200" dirty="0"/>
              <a:t> - 0.8”</a:t>
            </a:r>
            <a:br>
              <a:rPr lang="en-US" sz="1200" dirty="0"/>
            </a:br>
            <a:r>
              <a:rPr lang="en-US" sz="1200" dirty="0"/>
              <a:t>                         Y = </a:t>
            </a:r>
            <a:r>
              <a:rPr lang="en-US" sz="1200" dirty="0" err="1"/>
              <a:t>UpperBallTractionLocation</a:t>
            </a:r>
            <a:r>
              <a:rPr lang="en-US" sz="1200" dirty="0"/>
              <a:t>[Y] - 0.1”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4983163-B96D-4CC6-AFA2-EEB3A478D9DF}"/>
              </a:ext>
            </a:extLst>
          </p:cNvPr>
          <p:cNvCxnSpPr/>
          <p:nvPr/>
        </p:nvCxnSpPr>
        <p:spPr>
          <a:xfrm flipH="1">
            <a:off x="7169150" y="3984625"/>
            <a:ext cx="276225" cy="6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B53C18-621A-47F7-BC88-6CA9D49961FC}"/>
              </a:ext>
            </a:extLst>
          </p:cNvPr>
          <p:cNvCxnSpPr/>
          <p:nvPr/>
        </p:nvCxnSpPr>
        <p:spPr>
          <a:xfrm flipV="1">
            <a:off x="7502525" y="3906025"/>
            <a:ext cx="444770" cy="7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178320-1688-4871-9B97-218721767D0A}"/>
              </a:ext>
            </a:extLst>
          </p:cNvPr>
          <p:cNvCxnSpPr/>
          <p:nvPr/>
        </p:nvCxnSpPr>
        <p:spPr>
          <a:xfrm flipH="1">
            <a:off x="7166768" y="4050260"/>
            <a:ext cx="278607" cy="484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493A0B-8D36-4449-8E98-CD1B8CD159CD}"/>
              </a:ext>
            </a:extLst>
          </p:cNvPr>
          <p:cNvCxnSpPr/>
          <p:nvPr/>
        </p:nvCxnSpPr>
        <p:spPr>
          <a:xfrm>
            <a:off x="7462188" y="4052887"/>
            <a:ext cx="485107" cy="1081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84C637C-1173-4477-8879-023E3CCB02AE}"/>
              </a:ext>
            </a:extLst>
          </p:cNvPr>
          <p:cNvSpPr txBox="1"/>
          <p:nvPr/>
        </p:nvSpPr>
        <p:spPr>
          <a:xfrm>
            <a:off x="7227372" y="3875397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83AA0A-C6CC-4432-ADC7-7F966324A574}"/>
              </a:ext>
            </a:extLst>
          </p:cNvPr>
          <p:cNvCxnSpPr/>
          <p:nvPr/>
        </p:nvCxnSpPr>
        <p:spPr>
          <a:xfrm flipH="1">
            <a:off x="8017820" y="3541915"/>
            <a:ext cx="507055" cy="508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12C7863-2CAB-4581-8F84-D3EDE5AB581D}"/>
              </a:ext>
            </a:extLst>
          </p:cNvPr>
          <p:cNvSpPr txBox="1"/>
          <p:nvPr/>
        </p:nvSpPr>
        <p:spPr>
          <a:xfrm>
            <a:off x="8320504" y="3325597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4mm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C1C686-B85F-4A5F-806B-133DE2FAD53F}"/>
              </a:ext>
            </a:extLst>
          </p:cNvPr>
          <p:cNvSpPr txBox="1"/>
          <p:nvPr/>
        </p:nvSpPr>
        <p:spPr>
          <a:xfrm>
            <a:off x="8733387" y="5428485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4mm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7666686-D42A-494A-950D-3301952443CB}"/>
              </a:ext>
            </a:extLst>
          </p:cNvPr>
          <p:cNvCxnSpPr>
            <a:cxnSpLocks/>
            <a:stCxn id="47" idx="1"/>
          </p:cNvCxnSpPr>
          <p:nvPr/>
        </p:nvCxnSpPr>
        <p:spPr>
          <a:xfrm flipH="1" flipV="1">
            <a:off x="7999325" y="4956647"/>
            <a:ext cx="734062" cy="610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13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402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Clynes, Steve</dc:creator>
  <cp:lastModifiedBy>Clynes, Steve</cp:lastModifiedBy>
  <cp:revision>27</cp:revision>
  <dcterms:created xsi:type="dcterms:W3CDTF">2025-10-16T13:49:16Z</dcterms:created>
  <dcterms:modified xsi:type="dcterms:W3CDTF">2025-10-16T20:18:24Z</dcterms:modified>
</cp:coreProperties>
</file>