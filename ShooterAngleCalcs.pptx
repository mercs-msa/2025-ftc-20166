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82" autoAdjust="0"/>
    <p:restoredTop sz="94660"/>
  </p:normalViewPr>
  <p:slideViewPr>
    <p:cSldViewPr snapToGrid="0">
      <p:cViewPr>
        <p:scale>
          <a:sx n="150" d="100"/>
          <a:sy n="150" d="100"/>
        </p:scale>
        <p:origin x="-252" y="-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A57D-0F8B-40C8-BD98-CF5C853AA7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DC3324-05DC-41C5-A56B-576A1F29A5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1A856-FD81-4EEF-8901-19BB2F19B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24F97-4FE6-4B6B-84C7-CB5899029D8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123436-ED83-42A7-8E94-63DE3B5D3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30B1DE-5811-4751-A982-872C62271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3269F-3E7A-4613-B307-1F5008D65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079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C4051-BFE8-47A1-BDE4-B9E93C9B2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A192C-01C2-466B-8F2F-4516E6692E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0E1D83-949B-49D3-9A40-DAB63AE25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24F97-4FE6-4B6B-84C7-CB5899029D8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F1D3E4-19FB-42B7-BE5F-2CB34292B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72CF15-C6A6-4BD9-81DE-F0D2E8400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3269F-3E7A-4613-B307-1F5008D65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740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8CC55-D180-4ACB-BEC1-7A9057D8C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C838AE-6BE3-4F34-8A61-9079CF92F1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4EA100-609E-4B0C-820A-674E6A389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24F97-4FE6-4B6B-84C7-CB5899029D8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3BC76-39B4-42D0-AB8C-5D2FEEB20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FB1AE-0EB9-48B2-94AC-AA2932930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3269F-3E7A-4613-B307-1F5008D65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039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A6306-300F-42A7-BF4E-1FF0E0220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5DEEE-A82F-4E5B-A7B5-45B84D43A8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5D735D-273E-4470-AA78-5A211C1C0D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C477B1-AF2B-4C0E-9BA5-FE25FE3B8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24F97-4FE6-4B6B-84C7-CB5899029D8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E677D5-1D27-4B70-9D87-C4F97A843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7F236E-A83D-45BD-A5F2-9BCF0BDFA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3269F-3E7A-4613-B307-1F5008D65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296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4C21E-FBF7-48B8-95AF-CE9E717BC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10F3E9-0147-45D7-A151-1607887CA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ED915-29F2-4A18-9EA0-34A820FE06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1A69B6-A3D8-4727-BF86-78A72B204D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357E16-9F84-4460-A367-496A4695E3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6F3001-3992-47CB-9BCF-9652124E8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24F97-4FE6-4B6B-84C7-CB5899029D8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D30B3D-94B3-44F3-AFE5-A41AC6FC3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230597-0DD4-4CD0-A74A-4C74851E3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3269F-3E7A-4613-B307-1F5008D65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229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D597-3EBB-4FE9-AE97-64219B1EF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CCF7AE-A687-4EC7-9E30-F549A5B5B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24F97-4FE6-4B6B-84C7-CB5899029D8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EC7E1F-DC10-4003-9CD1-215B352AD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89ABDD-748C-4B82-BC42-4CCB737E2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3269F-3E7A-4613-B307-1F5008D65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464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03F196-BFC6-406E-92A3-A1618B63E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24F97-4FE6-4B6B-84C7-CB5899029D8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60D3F9-FB00-4636-BADB-7F1BABF3F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3D7A7E-8D38-4918-BD1A-B4BAEE726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3269F-3E7A-4613-B307-1F5008D65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698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478D5-012D-4C65-A2A8-C996429C9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A6427-38F4-4705-B85D-677EC7217A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263619-DC3F-4432-BA5C-689281DB87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1AA6FF-BD5F-442B-9554-CFCA76C1A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24F97-4FE6-4B6B-84C7-CB5899029D8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7D6E0C-6690-4292-A1DD-9C72862B2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6F02C3-66CC-4EF8-BA9E-0C452EAD2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3269F-3E7A-4613-B307-1F5008D65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432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C0E88-C9AF-4739-818C-3C582E502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A0E419-E14B-431B-BA92-7C2F325866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C4CB10-FB4C-4463-BD7E-844A942037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F02B02-5E23-4F5B-9042-1F556E226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24F97-4FE6-4B6B-84C7-CB5899029D8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74E087-7988-4A83-AB19-C2F2059CE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15C6D1-5F50-456F-9AAF-85479A34B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3269F-3E7A-4613-B307-1F5008D65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200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BA332-E95D-4FA9-A5FA-7EB9A5420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9A7BC8-C5D3-4B8C-B7EC-93C59EC114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57CFE-16DF-442D-AEAF-C62842827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24F97-4FE6-4B6B-84C7-CB5899029D8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DD33EC-474B-4D88-988D-539E18BDF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42FE55-4280-49AC-B57B-AA884D412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3269F-3E7A-4613-B307-1F5008D65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047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8FB1B0-BA9A-4403-85A7-6D34002940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E6BA37-3883-4FB0-86F8-F07C96C2EF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FBCDD6-9FAC-43F3-AFA9-4DF1B22A7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24F97-4FE6-4B6B-84C7-CB5899029D8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0E78EE-958F-4DE6-A5B9-EB9089741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20A4AC-F35C-4299-BBEA-B080DF7A3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3269F-3E7A-4613-B307-1F5008D65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82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9CFEED-1C72-46B7-ABA2-3EA0D61D8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7FA45F-8E0C-4ED7-8B63-86FB1153A6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DE3A1-7C6A-4FED-8B39-44C010138D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D24F97-4FE6-4B6B-84C7-CB5899029D8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C674AC-9BCE-4DDE-B182-EACB31F405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5B8582-73DA-4B48-90E0-A5E94A9212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C3269F-3E7A-4613-B307-1F5008D65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740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1FC54FB-5711-47D9-BEAB-F1B15FA2AF29}"/>
              </a:ext>
            </a:extLst>
          </p:cNvPr>
          <p:cNvCxnSpPr/>
          <p:nvPr/>
        </p:nvCxnSpPr>
        <p:spPr>
          <a:xfrm>
            <a:off x="1772653" y="3930316"/>
            <a:ext cx="85905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6744E5AA-C981-4C13-8D80-746A2577A38E}"/>
              </a:ext>
            </a:extLst>
          </p:cNvPr>
          <p:cNvSpPr/>
          <p:nvPr/>
        </p:nvSpPr>
        <p:spPr>
          <a:xfrm>
            <a:off x="3593432" y="2662989"/>
            <a:ext cx="1147010" cy="1259306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8C4B6BB-7E08-456A-9CBD-2FEA49A99F4A}"/>
              </a:ext>
            </a:extLst>
          </p:cNvPr>
          <p:cNvSpPr/>
          <p:nvPr/>
        </p:nvSpPr>
        <p:spPr>
          <a:xfrm>
            <a:off x="4121150" y="2844800"/>
            <a:ext cx="88900" cy="889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B052AB5-E263-419E-86C8-04CA4C9211D3}"/>
              </a:ext>
            </a:extLst>
          </p:cNvPr>
          <p:cNvGrpSpPr/>
          <p:nvPr/>
        </p:nvGrpSpPr>
        <p:grpSpPr>
          <a:xfrm rot="3075312">
            <a:off x="3912869" y="1496521"/>
            <a:ext cx="2362200" cy="2194539"/>
            <a:chOff x="3322321" y="988522"/>
            <a:chExt cx="2362200" cy="2194539"/>
          </a:xfrm>
        </p:grpSpPr>
        <p:sp>
          <p:nvSpPr>
            <p:cNvPr id="9" name="Isosceles Triangle 8">
              <a:extLst>
                <a:ext uri="{FF2B5EF4-FFF2-40B4-BE49-F238E27FC236}">
                  <a16:creationId xmlns:a16="http://schemas.microsoft.com/office/drawing/2014/main" id="{2BC84F7F-D6D5-4770-BE74-50589AEF5141}"/>
                </a:ext>
              </a:extLst>
            </p:cNvPr>
            <p:cNvSpPr/>
            <p:nvPr/>
          </p:nvSpPr>
          <p:spPr>
            <a:xfrm rot="12110198">
              <a:off x="3322321" y="988522"/>
              <a:ext cx="2362200" cy="2194539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1A6A700-5A22-484D-9B04-9CB7DACE54F7}"/>
                </a:ext>
              </a:extLst>
            </p:cNvPr>
            <p:cNvSpPr/>
            <p:nvPr/>
          </p:nvSpPr>
          <p:spPr>
            <a:xfrm>
              <a:off x="4695992" y="1368241"/>
              <a:ext cx="88900" cy="889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63A5D1D0-9230-4FEB-B596-AC76174934BC}"/>
              </a:ext>
            </a:extLst>
          </p:cNvPr>
          <p:cNvSpPr/>
          <p:nvPr/>
        </p:nvSpPr>
        <p:spPr>
          <a:xfrm>
            <a:off x="5404326" y="3449372"/>
            <a:ext cx="850900" cy="36829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B68DA43-BF51-4198-90CC-A5B3339161DB}"/>
              </a:ext>
            </a:extLst>
          </p:cNvPr>
          <p:cNvSpPr/>
          <p:nvPr/>
        </p:nvSpPr>
        <p:spPr>
          <a:xfrm>
            <a:off x="5518625" y="3576726"/>
            <a:ext cx="88900" cy="889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54965F2-D5FF-414F-B7E7-500D8D677E5F}"/>
              </a:ext>
            </a:extLst>
          </p:cNvPr>
          <p:cNvSpPr/>
          <p:nvPr/>
        </p:nvSpPr>
        <p:spPr>
          <a:xfrm>
            <a:off x="5515054" y="3581311"/>
            <a:ext cx="629444" cy="77788"/>
          </a:xfrm>
          <a:prstGeom prst="roundRect">
            <a:avLst>
              <a:gd name="adj" fmla="val 50000"/>
            </a:avLst>
          </a:prstGeom>
          <a:solidFill>
            <a:schemeClr val="accent1">
              <a:alpha val="3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3BDF867-FA72-4F69-A3D5-642F74A9B4E4}"/>
              </a:ext>
            </a:extLst>
          </p:cNvPr>
          <p:cNvSpPr/>
          <p:nvPr/>
        </p:nvSpPr>
        <p:spPr>
          <a:xfrm rot="15309357">
            <a:off x="5229085" y="2930724"/>
            <a:ext cx="1399079" cy="83078"/>
          </a:xfrm>
          <a:prstGeom prst="roundRect">
            <a:avLst>
              <a:gd name="adj" fmla="val 50000"/>
            </a:avLst>
          </a:prstGeom>
          <a:solidFill>
            <a:schemeClr val="accent1">
              <a:alpha val="3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840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C05352C-AC60-47A4-8757-00D4C47804DD}"/>
              </a:ext>
            </a:extLst>
          </p:cNvPr>
          <p:cNvCxnSpPr/>
          <p:nvPr/>
        </p:nvCxnSpPr>
        <p:spPr>
          <a:xfrm>
            <a:off x="1772653" y="3930316"/>
            <a:ext cx="85905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547C30D4-1312-4B98-9CD4-3A05CAA83863}"/>
              </a:ext>
            </a:extLst>
          </p:cNvPr>
          <p:cNvSpPr/>
          <p:nvPr/>
        </p:nvSpPr>
        <p:spPr>
          <a:xfrm>
            <a:off x="3593432" y="2662989"/>
            <a:ext cx="1147010" cy="1259306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365D40B-AAC7-44FC-8C5F-234BD32A31F0}"/>
              </a:ext>
            </a:extLst>
          </p:cNvPr>
          <p:cNvSpPr/>
          <p:nvPr/>
        </p:nvSpPr>
        <p:spPr>
          <a:xfrm>
            <a:off x="4121150" y="2844800"/>
            <a:ext cx="88900" cy="889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BE01F81-6ADC-47B4-A3BA-4861F75DA2AA}"/>
              </a:ext>
            </a:extLst>
          </p:cNvPr>
          <p:cNvGrpSpPr/>
          <p:nvPr/>
        </p:nvGrpSpPr>
        <p:grpSpPr>
          <a:xfrm rot="2310916">
            <a:off x="3817619" y="1318721"/>
            <a:ext cx="2362200" cy="2194539"/>
            <a:chOff x="3322321" y="988522"/>
            <a:chExt cx="2362200" cy="2194539"/>
          </a:xfrm>
        </p:grpSpPr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B1367BFC-0C5E-419E-826F-39610959B953}"/>
                </a:ext>
              </a:extLst>
            </p:cNvPr>
            <p:cNvSpPr/>
            <p:nvPr/>
          </p:nvSpPr>
          <p:spPr>
            <a:xfrm rot="12110198">
              <a:off x="3322321" y="988522"/>
              <a:ext cx="2362200" cy="2194539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18095B0-ECEB-4651-9CEE-218D8D7AA5DD}"/>
                </a:ext>
              </a:extLst>
            </p:cNvPr>
            <p:cNvSpPr/>
            <p:nvPr/>
          </p:nvSpPr>
          <p:spPr>
            <a:xfrm>
              <a:off x="4695992" y="1368241"/>
              <a:ext cx="88900" cy="889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300E4022-99C7-48D0-9B02-7421D9C5DD02}"/>
              </a:ext>
            </a:extLst>
          </p:cNvPr>
          <p:cNvSpPr/>
          <p:nvPr/>
        </p:nvSpPr>
        <p:spPr>
          <a:xfrm>
            <a:off x="5404326" y="3449372"/>
            <a:ext cx="850900" cy="36829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EBF3A07-29DE-4B86-A265-7725B1CD46C1}"/>
              </a:ext>
            </a:extLst>
          </p:cNvPr>
          <p:cNvSpPr/>
          <p:nvPr/>
        </p:nvSpPr>
        <p:spPr>
          <a:xfrm>
            <a:off x="5518625" y="3576726"/>
            <a:ext cx="88900" cy="889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292888E-3B3B-49F6-8A6C-8F09A400EEB1}"/>
              </a:ext>
            </a:extLst>
          </p:cNvPr>
          <p:cNvSpPr/>
          <p:nvPr/>
        </p:nvSpPr>
        <p:spPr>
          <a:xfrm rot="19432914">
            <a:off x="5467718" y="3421889"/>
            <a:ext cx="629444" cy="77788"/>
          </a:xfrm>
          <a:prstGeom prst="roundRect">
            <a:avLst>
              <a:gd name="adj" fmla="val 50000"/>
            </a:avLst>
          </a:prstGeom>
          <a:solidFill>
            <a:schemeClr val="accent1">
              <a:alpha val="3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6232B19-A807-4408-85CD-AEDDA4C36940}"/>
              </a:ext>
            </a:extLst>
          </p:cNvPr>
          <p:cNvSpPr/>
          <p:nvPr/>
        </p:nvSpPr>
        <p:spPr>
          <a:xfrm rot="15116503">
            <a:off x="5097670" y="2620100"/>
            <a:ext cx="1399079" cy="83078"/>
          </a:xfrm>
          <a:prstGeom prst="roundRect">
            <a:avLst>
              <a:gd name="adj" fmla="val 50000"/>
            </a:avLst>
          </a:prstGeom>
          <a:solidFill>
            <a:schemeClr val="accent1">
              <a:alpha val="3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70C271C-6479-4ABD-9534-BD3F7BC8F0AC}"/>
              </a:ext>
            </a:extLst>
          </p:cNvPr>
          <p:cNvCxnSpPr>
            <a:cxnSpLocks/>
          </p:cNvCxnSpPr>
          <p:nvPr/>
        </p:nvCxnSpPr>
        <p:spPr>
          <a:xfrm>
            <a:off x="5556250" y="3618001"/>
            <a:ext cx="100012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ABFFEAD-C6CD-42D8-9D2D-71550684983B}"/>
              </a:ext>
            </a:extLst>
          </p:cNvPr>
          <p:cNvCxnSpPr>
            <a:cxnSpLocks/>
          </p:cNvCxnSpPr>
          <p:nvPr/>
        </p:nvCxnSpPr>
        <p:spPr>
          <a:xfrm flipV="1">
            <a:off x="5556250" y="2993231"/>
            <a:ext cx="862698" cy="62477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5AE181B-20ED-4973-BF40-954CBC1F7A6E}"/>
              </a:ext>
            </a:extLst>
          </p:cNvPr>
          <p:cNvCxnSpPr>
            <a:cxnSpLocks/>
          </p:cNvCxnSpPr>
          <p:nvPr/>
        </p:nvCxnSpPr>
        <p:spPr>
          <a:xfrm>
            <a:off x="4159686" y="2894806"/>
            <a:ext cx="100012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4A21D86-0503-4DC7-8426-1B403584B491}"/>
              </a:ext>
            </a:extLst>
          </p:cNvPr>
          <p:cNvCxnSpPr>
            <a:cxnSpLocks/>
          </p:cNvCxnSpPr>
          <p:nvPr/>
        </p:nvCxnSpPr>
        <p:spPr>
          <a:xfrm flipV="1">
            <a:off x="4159686" y="1943100"/>
            <a:ext cx="1593414" cy="95170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C888CEB-5C17-4A9D-823F-C15EC218151D}"/>
              </a:ext>
            </a:extLst>
          </p:cNvPr>
          <p:cNvGrpSpPr/>
          <p:nvPr/>
        </p:nvGrpSpPr>
        <p:grpSpPr>
          <a:xfrm rot="19415631">
            <a:off x="5388617" y="3084866"/>
            <a:ext cx="542622" cy="406393"/>
            <a:chOff x="5505280" y="4114807"/>
            <a:chExt cx="590720" cy="406393"/>
          </a:xfrm>
        </p:grpSpPr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D01BB031-7B41-4A4D-ABE6-2FB6535C9EE2}"/>
                </a:ext>
              </a:extLst>
            </p:cNvPr>
            <p:cNvCxnSpPr/>
            <p:nvPr/>
          </p:nvCxnSpPr>
          <p:spPr>
            <a:xfrm>
              <a:off x="5505280" y="4178300"/>
              <a:ext cx="0" cy="3429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0B903AA8-C2B2-4F45-95A8-8EC36177EDDC}"/>
                </a:ext>
              </a:extLst>
            </p:cNvPr>
            <p:cNvCxnSpPr/>
            <p:nvPr/>
          </p:nvCxnSpPr>
          <p:spPr>
            <a:xfrm>
              <a:off x="6086305" y="4178300"/>
              <a:ext cx="0" cy="3429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CC9DF500-282A-4D1B-97A8-0A171E498A95}"/>
                </a:ext>
              </a:extLst>
            </p:cNvPr>
            <p:cNvCxnSpPr/>
            <p:nvPr/>
          </p:nvCxnSpPr>
          <p:spPr>
            <a:xfrm>
              <a:off x="5505280" y="4349750"/>
              <a:ext cx="59072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CACE695C-9251-4F13-A674-C38518C25858}"/>
                </a:ext>
              </a:extLst>
            </p:cNvPr>
            <p:cNvSpPr txBox="1"/>
            <p:nvPr/>
          </p:nvSpPr>
          <p:spPr>
            <a:xfrm>
              <a:off x="5585250" y="4114807"/>
              <a:ext cx="4440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SAL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65DD2754-1308-48A1-BA2F-2822848AFF98}"/>
              </a:ext>
            </a:extLst>
          </p:cNvPr>
          <p:cNvGrpSpPr/>
          <p:nvPr/>
        </p:nvGrpSpPr>
        <p:grpSpPr>
          <a:xfrm rot="19731193">
            <a:off x="3935851" y="2070943"/>
            <a:ext cx="1696494" cy="406393"/>
            <a:chOff x="5505280" y="4114807"/>
            <a:chExt cx="590720" cy="406393"/>
          </a:xfrm>
        </p:grpSpPr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EF90307-1AF4-4952-B858-D41DA1E6CF8E}"/>
                </a:ext>
              </a:extLst>
            </p:cNvPr>
            <p:cNvCxnSpPr/>
            <p:nvPr/>
          </p:nvCxnSpPr>
          <p:spPr>
            <a:xfrm>
              <a:off x="5505280" y="4178300"/>
              <a:ext cx="0" cy="3429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677C494A-5370-4676-81CE-0716A77CB386}"/>
                </a:ext>
              </a:extLst>
            </p:cNvPr>
            <p:cNvCxnSpPr/>
            <p:nvPr/>
          </p:nvCxnSpPr>
          <p:spPr>
            <a:xfrm>
              <a:off x="6086305" y="4178300"/>
              <a:ext cx="0" cy="3429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B46C1E2F-BD11-479E-B1F2-5D69EEBC3FE0}"/>
                </a:ext>
              </a:extLst>
            </p:cNvPr>
            <p:cNvCxnSpPr/>
            <p:nvPr/>
          </p:nvCxnSpPr>
          <p:spPr>
            <a:xfrm>
              <a:off x="5505280" y="4349750"/>
              <a:ext cx="59072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6719901C-C20C-4958-8193-7360A786A585}"/>
                </a:ext>
              </a:extLst>
            </p:cNvPr>
            <p:cNvSpPr txBox="1"/>
            <p:nvPr/>
          </p:nvSpPr>
          <p:spPr>
            <a:xfrm>
              <a:off x="5731050" y="4114807"/>
              <a:ext cx="15249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SPO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001C9FFC-0794-452D-97AF-D0F68C1D8F3F}"/>
              </a:ext>
            </a:extLst>
          </p:cNvPr>
          <p:cNvGrpSpPr/>
          <p:nvPr/>
        </p:nvGrpSpPr>
        <p:grpSpPr>
          <a:xfrm rot="4276296">
            <a:off x="5280468" y="2446780"/>
            <a:ext cx="1300184" cy="406395"/>
            <a:chOff x="5505280" y="4114805"/>
            <a:chExt cx="590720" cy="406395"/>
          </a:xfrm>
        </p:grpSpPr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54D1C5B6-792A-46CE-A0B8-76CDD52F2665}"/>
                </a:ext>
              </a:extLst>
            </p:cNvPr>
            <p:cNvCxnSpPr/>
            <p:nvPr/>
          </p:nvCxnSpPr>
          <p:spPr>
            <a:xfrm>
              <a:off x="5505280" y="4178300"/>
              <a:ext cx="0" cy="3429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5CF508EB-2A30-4EE3-A4D4-1A53BB9638F6}"/>
                </a:ext>
              </a:extLst>
            </p:cNvPr>
            <p:cNvCxnSpPr/>
            <p:nvPr/>
          </p:nvCxnSpPr>
          <p:spPr>
            <a:xfrm>
              <a:off x="6086305" y="4178300"/>
              <a:ext cx="0" cy="3429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A655A0C9-5CEB-461E-AF78-2E4AF2B442A5}"/>
                </a:ext>
              </a:extLst>
            </p:cNvPr>
            <p:cNvCxnSpPr/>
            <p:nvPr/>
          </p:nvCxnSpPr>
          <p:spPr>
            <a:xfrm>
              <a:off x="5505280" y="4349750"/>
              <a:ext cx="59072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7D72F152-C4B4-4058-BAD0-50E301685B04}"/>
                </a:ext>
              </a:extLst>
            </p:cNvPr>
            <p:cNvSpPr txBox="1"/>
            <p:nvPr/>
          </p:nvSpPr>
          <p:spPr>
            <a:xfrm>
              <a:off x="5716551" y="4114805"/>
              <a:ext cx="18149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SPL</a:t>
              </a: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36703E27-09B7-43DE-AADB-B33A296196E8}"/>
              </a:ext>
            </a:extLst>
          </p:cNvPr>
          <p:cNvSpPr txBox="1"/>
          <p:nvPr/>
        </p:nvSpPr>
        <p:spPr>
          <a:xfrm>
            <a:off x="3489325" y="4121150"/>
            <a:ext cx="25948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SPO = Shooter Pivot Offset = 110mm</a:t>
            </a:r>
            <a:br>
              <a:rPr lang="en-US" sz="1200" dirty="0"/>
            </a:br>
            <a:r>
              <a:rPr lang="en-US" sz="1200" dirty="0"/>
              <a:t>SPL = Shooter Pusher Length = 120mm</a:t>
            </a:r>
            <a:br>
              <a:rPr lang="en-US" sz="1200" dirty="0"/>
            </a:br>
            <a:r>
              <a:rPr lang="en-US" sz="1200" dirty="0"/>
              <a:t>SAL = Servo Arm Length =45mm</a:t>
            </a:r>
          </a:p>
        </p:txBody>
      </p:sp>
    </p:spTree>
    <p:extLst>
      <p:ext uri="{BB962C8B-B14F-4D97-AF65-F5344CB8AC3E}">
        <p14:creationId xmlns:p14="http://schemas.microsoft.com/office/powerpoint/2010/main" val="3355072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C05352C-AC60-47A4-8757-00D4C47804DD}"/>
              </a:ext>
            </a:extLst>
          </p:cNvPr>
          <p:cNvCxnSpPr/>
          <p:nvPr/>
        </p:nvCxnSpPr>
        <p:spPr>
          <a:xfrm>
            <a:off x="1772653" y="3930316"/>
            <a:ext cx="85905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547C30D4-1312-4B98-9CD4-3A05CAA83863}"/>
              </a:ext>
            </a:extLst>
          </p:cNvPr>
          <p:cNvSpPr/>
          <p:nvPr/>
        </p:nvSpPr>
        <p:spPr>
          <a:xfrm>
            <a:off x="3593432" y="2662989"/>
            <a:ext cx="1147010" cy="1259306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365D40B-AAC7-44FC-8C5F-234BD32A31F0}"/>
              </a:ext>
            </a:extLst>
          </p:cNvPr>
          <p:cNvSpPr/>
          <p:nvPr/>
        </p:nvSpPr>
        <p:spPr>
          <a:xfrm>
            <a:off x="4121150" y="2844800"/>
            <a:ext cx="88900" cy="889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BE01F81-6ADC-47B4-A3BA-4861F75DA2AA}"/>
              </a:ext>
            </a:extLst>
          </p:cNvPr>
          <p:cNvGrpSpPr/>
          <p:nvPr/>
        </p:nvGrpSpPr>
        <p:grpSpPr>
          <a:xfrm rot="2310916">
            <a:off x="3817619" y="1318721"/>
            <a:ext cx="2362200" cy="2194539"/>
            <a:chOff x="3322321" y="988522"/>
            <a:chExt cx="2362200" cy="2194539"/>
          </a:xfrm>
        </p:grpSpPr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B1367BFC-0C5E-419E-826F-39610959B953}"/>
                </a:ext>
              </a:extLst>
            </p:cNvPr>
            <p:cNvSpPr/>
            <p:nvPr/>
          </p:nvSpPr>
          <p:spPr>
            <a:xfrm rot="12110198">
              <a:off x="3322321" y="988522"/>
              <a:ext cx="2362200" cy="2194539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18095B0-ECEB-4651-9CEE-218D8D7AA5DD}"/>
                </a:ext>
              </a:extLst>
            </p:cNvPr>
            <p:cNvSpPr/>
            <p:nvPr/>
          </p:nvSpPr>
          <p:spPr>
            <a:xfrm>
              <a:off x="4695992" y="1368241"/>
              <a:ext cx="88900" cy="889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300E4022-99C7-48D0-9B02-7421D9C5DD02}"/>
              </a:ext>
            </a:extLst>
          </p:cNvPr>
          <p:cNvSpPr/>
          <p:nvPr/>
        </p:nvSpPr>
        <p:spPr>
          <a:xfrm>
            <a:off x="5404326" y="3449372"/>
            <a:ext cx="850900" cy="36829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EBF3A07-29DE-4B86-A265-7725B1CD46C1}"/>
              </a:ext>
            </a:extLst>
          </p:cNvPr>
          <p:cNvSpPr/>
          <p:nvPr/>
        </p:nvSpPr>
        <p:spPr>
          <a:xfrm>
            <a:off x="5518625" y="3576726"/>
            <a:ext cx="88900" cy="889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292888E-3B3B-49F6-8A6C-8F09A400EEB1}"/>
              </a:ext>
            </a:extLst>
          </p:cNvPr>
          <p:cNvSpPr/>
          <p:nvPr/>
        </p:nvSpPr>
        <p:spPr>
          <a:xfrm rot="19432914">
            <a:off x="5467718" y="3421889"/>
            <a:ext cx="629444" cy="77788"/>
          </a:xfrm>
          <a:prstGeom prst="roundRect">
            <a:avLst>
              <a:gd name="adj" fmla="val 50000"/>
            </a:avLst>
          </a:prstGeom>
          <a:solidFill>
            <a:schemeClr val="accent1">
              <a:alpha val="3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6232B19-A807-4408-85CD-AEDDA4C36940}"/>
              </a:ext>
            </a:extLst>
          </p:cNvPr>
          <p:cNvSpPr/>
          <p:nvPr/>
        </p:nvSpPr>
        <p:spPr>
          <a:xfrm rot="15116503">
            <a:off x="5097670" y="2620100"/>
            <a:ext cx="1399079" cy="83078"/>
          </a:xfrm>
          <a:prstGeom prst="roundRect">
            <a:avLst>
              <a:gd name="adj" fmla="val 50000"/>
            </a:avLst>
          </a:prstGeom>
          <a:solidFill>
            <a:schemeClr val="accent1">
              <a:alpha val="3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70C271C-6479-4ABD-9534-BD3F7BC8F0AC}"/>
              </a:ext>
            </a:extLst>
          </p:cNvPr>
          <p:cNvCxnSpPr>
            <a:cxnSpLocks/>
          </p:cNvCxnSpPr>
          <p:nvPr/>
        </p:nvCxnSpPr>
        <p:spPr>
          <a:xfrm>
            <a:off x="5556250" y="3618001"/>
            <a:ext cx="100012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ABFFEAD-C6CD-42D8-9D2D-71550684983B}"/>
              </a:ext>
            </a:extLst>
          </p:cNvPr>
          <p:cNvCxnSpPr>
            <a:cxnSpLocks/>
          </p:cNvCxnSpPr>
          <p:nvPr/>
        </p:nvCxnSpPr>
        <p:spPr>
          <a:xfrm flipV="1">
            <a:off x="5556250" y="2993231"/>
            <a:ext cx="862698" cy="62477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5AE181B-20ED-4973-BF40-954CBC1F7A6E}"/>
              </a:ext>
            </a:extLst>
          </p:cNvPr>
          <p:cNvCxnSpPr>
            <a:cxnSpLocks/>
          </p:cNvCxnSpPr>
          <p:nvPr/>
        </p:nvCxnSpPr>
        <p:spPr>
          <a:xfrm>
            <a:off x="4159686" y="2894806"/>
            <a:ext cx="100012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4A21D86-0503-4DC7-8426-1B403584B491}"/>
              </a:ext>
            </a:extLst>
          </p:cNvPr>
          <p:cNvCxnSpPr>
            <a:cxnSpLocks/>
          </p:cNvCxnSpPr>
          <p:nvPr/>
        </p:nvCxnSpPr>
        <p:spPr>
          <a:xfrm flipV="1">
            <a:off x="4159686" y="1943100"/>
            <a:ext cx="1593414" cy="95170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8AD1786-EED5-428D-9145-2CB08C8A4F19}"/>
              </a:ext>
            </a:extLst>
          </p:cNvPr>
          <p:cNvCxnSpPr>
            <a:cxnSpLocks/>
          </p:cNvCxnSpPr>
          <p:nvPr/>
        </p:nvCxnSpPr>
        <p:spPr>
          <a:xfrm>
            <a:off x="5547220" y="406400"/>
            <a:ext cx="0" cy="4463617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75512F2-88E4-4711-8AE2-0B6E5A53075A}"/>
              </a:ext>
            </a:extLst>
          </p:cNvPr>
          <p:cNvCxnSpPr>
            <a:cxnSpLocks/>
          </p:cNvCxnSpPr>
          <p:nvPr/>
        </p:nvCxnSpPr>
        <p:spPr>
          <a:xfrm flipH="1">
            <a:off x="3026251" y="3293151"/>
            <a:ext cx="7054849" cy="0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74A4DDF-E828-473E-8617-08603E5AED82}"/>
              </a:ext>
            </a:extLst>
          </p:cNvPr>
          <p:cNvCxnSpPr>
            <a:cxnSpLocks/>
          </p:cNvCxnSpPr>
          <p:nvPr/>
        </p:nvCxnSpPr>
        <p:spPr>
          <a:xfrm>
            <a:off x="5998070" y="609600"/>
            <a:ext cx="0" cy="4463617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AC61C3D-CFAC-4069-8935-C65D7370D012}"/>
              </a:ext>
            </a:extLst>
          </p:cNvPr>
          <p:cNvCxnSpPr>
            <a:cxnSpLocks/>
          </p:cNvCxnSpPr>
          <p:nvPr/>
        </p:nvCxnSpPr>
        <p:spPr>
          <a:xfrm flipH="1">
            <a:off x="2463801" y="3621176"/>
            <a:ext cx="7054849" cy="0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E03BA08-C1AD-4E22-B393-155FDFF65173}"/>
              </a:ext>
            </a:extLst>
          </p:cNvPr>
          <p:cNvCxnSpPr/>
          <p:nvPr/>
        </p:nvCxnSpPr>
        <p:spPr>
          <a:xfrm>
            <a:off x="6203950" y="3165475"/>
            <a:ext cx="214998" cy="452526"/>
          </a:xfrm>
          <a:prstGeom prst="straightConnector1">
            <a:avLst/>
          </a:prstGeom>
          <a:ln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88233C3-4C06-482B-BF82-D6F71027CBC3}"/>
              </a:ext>
            </a:extLst>
          </p:cNvPr>
          <p:cNvSpPr txBox="1"/>
          <p:nvPr/>
        </p:nvSpPr>
        <p:spPr>
          <a:xfrm>
            <a:off x="6256247" y="3210570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/>
              <a:t>α</a:t>
            </a:r>
            <a:endParaRPr lang="en-US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78846C7-8047-4B8E-8BFD-FA5FC463B23C}"/>
              </a:ext>
            </a:extLst>
          </p:cNvPr>
          <p:cNvCxnSpPr>
            <a:cxnSpLocks/>
          </p:cNvCxnSpPr>
          <p:nvPr/>
        </p:nvCxnSpPr>
        <p:spPr>
          <a:xfrm>
            <a:off x="4782382" y="2513974"/>
            <a:ext cx="167158" cy="375559"/>
          </a:xfrm>
          <a:prstGeom prst="straightConnector1">
            <a:avLst/>
          </a:prstGeom>
          <a:ln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948412C-C013-469E-8A31-D2A550E0B78D}"/>
              </a:ext>
            </a:extLst>
          </p:cNvPr>
          <p:cNvSpPr txBox="1"/>
          <p:nvPr/>
        </p:nvSpPr>
        <p:spPr>
          <a:xfrm>
            <a:off x="4805763" y="243957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/>
              <a:t>β</a:t>
            </a:r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0ECDAC7-15F5-481D-94DD-559CD34F5738}"/>
              </a:ext>
            </a:extLst>
          </p:cNvPr>
          <p:cNvCxnSpPr>
            <a:endCxn id="20" idx="1"/>
          </p:cNvCxnSpPr>
          <p:nvPr/>
        </p:nvCxnSpPr>
        <p:spPr>
          <a:xfrm flipV="1">
            <a:off x="4876800" y="3646296"/>
            <a:ext cx="651406" cy="9352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790A058-6190-462F-A2BA-4C72EDE14A2A}"/>
              </a:ext>
            </a:extLst>
          </p:cNvPr>
          <p:cNvSpPr txBox="1"/>
          <p:nvPr/>
        </p:nvSpPr>
        <p:spPr>
          <a:xfrm>
            <a:off x="4155088" y="4559459"/>
            <a:ext cx="9412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Origin = 0, 0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1A6C28B-C313-43DD-A1C2-EC3969BF761A}"/>
              </a:ext>
            </a:extLst>
          </p:cNvPr>
          <p:cNvCxnSpPr>
            <a:cxnSpLocks/>
          </p:cNvCxnSpPr>
          <p:nvPr/>
        </p:nvCxnSpPr>
        <p:spPr>
          <a:xfrm flipH="1">
            <a:off x="6053138" y="2146503"/>
            <a:ext cx="500538" cy="10777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82DAB94A-CA06-4248-B741-178F38B1C63B}"/>
              </a:ext>
            </a:extLst>
          </p:cNvPr>
          <p:cNvSpPr txBox="1"/>
          <p:nvPr/>
        </p:nvSpPr>
        <p:spPr>
          <a:xfrm>
            <a:off x="6456494" y="1922102"/>
            <a:ext cx="33790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ServoPoint</a:t>
            </a:r>
            <a:r>
              <a:rPr lang="en-US" sz="1200" dirty="0"/>
              <a:t> =  [SPX = SAL*COS(</a:t>
            </a:r>
            <a:r>
              <a:rPr lang="el-GR" sz="1200" dirty="0"/>
              <a:t>α</a:t>
            </a:r>
            <a:r>
              <a:rPr lang="en-US" sz="1200" dirty="0"/>
              <a:t>), SPY = SAL*SIN(</a:t>
            </a:r>
            <a:r>
              <a:rPr lang="el-GR" sz="1200" dirty="0"/>
              <a:t>α</a:t>
            </a:r>
            <a:r>
              <a:rPr lang="en-US" sz="1200" dirty="0"/>
              <a:t>)]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5318C59-BD27-4E64-9032-16562986BCB9}"/>
              </a:ext>
            </a:extLst>
          </p:cNvPr>
          <p:cNvCxnSpPr>
            <a:cxnSpLocks/>
          </p:cNvCxnSpPr>
          <p:nvPr/>
        </p:nvCxnSpPr>
        <p:spPr>
          <a:xfrm>
            <a:off x="3882334" y="2248524"/>
            <a:ext cx="268323" cy="5838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0FECF8C3-747A-4C72-AE9C-9B9721356019}"/>
              </a:ext>
            </a:extLst>
          </p:cNvPr>
          <p:cNvSpPr txBox="1"/>
          <p:nvPr/>
        </p:nvSpPr>
        <p:spPr>
          <a:xfrm>
            <a:off x="2769530" y="1946013"/>
            <a:ext cx="15184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TiltPoint</a:t>
            </a:r>
            <a:r>
              <a:rPr lang="en-US" sz="1200" dirty="0"/>
              <a:t> =  [TPX, TPY]</a:t>
            </a:r>
          </a:p>
        </p:txBody>
      </p:sp>
    </p:spTree>
    <p:extLst>
      <p:ext uri="{BB962C8B-B14F-4D97-AF65-F5344CB8AC3E}">
        <p14:creationId xmlns:p14="http://schemas.microsoft.com/office/powerpoint/2010/main" val="2181827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C05352C-AC60-47A4-8757-00D4C47804DD}"/>
              </a:ext>
            </a:extLst>
          </p:cNvPr>
          <p:cNvCxnSpPr/>
          <p:nvPr/>
        </p:nvCxnSpPr>
        <p:spPr>
          <a:xfrm>
            <a:off x="1772653" y="3930316"/>
            <a:ext cx="85905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547C30D4-1312-4B98-9CD4-3A05CAA83863}"/>
              </a:ext>
            </a:extLst>
          </p:cNvPr>
          <p:cNvSpPr/>
          <p:nvPr/>
        </p:nvSpPr>
        <p:spPr>
          <a:xfrm>
            <a:off x="3593432" y="2662989"/>
            <a:ext cx="1147010" cy="1259306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365D40B-AAC7-44FC-8C5F-234BD32A31F0}"/>
              </a:ext>
            </a:extLst>
          </p:cNvPr>
          <p:cNvSpPr/>
          <p:nvPr/>
        </p:nvSpPr>
        <p:spPr>
          <a:xfrm>
            <a:off x="4121150" y="2844800"/>
            <a:ext cx="88900" cy="889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BE01F81-6ADC-47B4-A3BA-4861F75DA2AA}"/>
              </a:ext>
            </a:extLst>
          </p:cNvPr>
          <p:cNvGrpSpPr/>
          <p:nvPr/>
        </p:nvGrpSpPr>
        <p:grpSpPr>
          <a:xfrm rot="2310916">
            <a:off x="3817619" y="1318721"/>
            <a:ext cx="2362200" cy="2194539"/>
            <a:chOff x="3322321" y="988522"/>
            <a:chExt cx="2362200" cy="2194539"/>
          </a:xfrm>
        </p:grpSpPr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B1367BFC-0C5E-419E-826F-39610959B953}"/>
                </a:ext>
              </a:extLst>
            </p:cNvPr>
            <p:cNvSpPr/>
            <p:nvPr/>
          </p:nvSpPr>
          <p:spPr>
            <a:xfrm rot="12110198">
              <a:off x="3322321" y="988522"/>
              <a:ext cx="2362200" cy="2194539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18095B0-ECEB-4651-9CEE-218D8D7AA5DD}"/>
                </a:ext>
              </a:extLst>
            </p:cNvPr>
            <p:cNvSpPr/>
            <p:nvPr/>
          </p:nvSpPr>
          <p:spPr>
            <a:xfrm>
              <a:off x="4695992" y="1368241"/>
              <a:ext cx="88900" cy="889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300E4022-99C7-48D0-9B02-7421D9C5DD02}"/>
              </a:ext>
            </a:extLst>
          </p:cNvPr>
          <p:cNvSpPr/>
          <p:nvPr/>
        </p:nvSpPr>
        <p:spPr>
          <a:xfrm>
            <a:off x="5404326" y="3449372"/>
            <a:ext cx="850900" cy="36829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EBF3A07-29DE-4B86-A265-7725B1CD46C1}"/>
              </a:ext>
            </a:extLst>
          </p:cNvPr>
          <p:cNvSpPr/>
          <p:nvPr/>
        </p:nvSpPr>
        <p:spPr>
          <a:xfrm>
            <a:off x="5518625" y="3576726"/>
            <a:ext cx="88900" cy="889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292888E-3B3B-49F6-8A6C-8F09A400EEB1}"/>
              </a:ext>
            </a:extLst>
          </p:cNvPr>
          <p:cNvSpPr/>
          <p:nvPr/>
        </p:nvSpPr>
        <p:spPr>
          <a:xfrm rot="19432914">
            <a:off x="5467718" y="3421889"/>
            <a:ext cx="629444" cy="77788"/>
          </a:xfrm>
          <a:prstGeom prst="roundRect">
            <a:avLst>
              <a:gd name="adj" fmla="val 50000"/>
            </a:avLst>
          </a:prstGeom>
          <a:solidFill>
            <a:schemeClr val="accent1">
              <a:alpha val="3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6232B19-A807-4408-85CD-AEDDA4C36940}"/>
              </a:ext>
            </a:extLst>
          </p:cNvPr>
          <p:cNvSpPr/>
          <p:nvPr/>
        </p:nvSpPr>
        <p:spPr>
          <a:xfrm rot="15116503">
            <a:off x="5097670" y="2620100"/>
            <a:ext cx="1399079" cy="83078"/>
          </a:xfrm>
          <a:prstGeom prst="roundRect">
            <a:avLst>
              <a:gd name="adj" fmla="val 50000"/>
            </a:avLst>
          </a:prstGeom>
          <a:solidFill>
            <a:schemeClr val="accent1">
              <a:alpha val="3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70C271C-6479-4ABD-9534-BD3F7BC8F0AC}"/>
              </a:ext>
            </a:extLst>
          </p:cNvPr>
          <p:cNvCxnSpPr>
            <a:cxnSpLocks/>
          </p:cNvCxnSpPr>
          <p:nvPr/>
        </p:nvCxnSpPr>
        <p:spPr>
          <a:xfrm>
            <a:off x="5556250" y="3618001"/>
            <a:ext cx="100012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ABFFEAD-C6CD-42D8-9D2D-71550684983B}"/>
              </a:ext>
            </a:extLst>
          </p:cNvPr>
          <p:cNvCxnSpPr>
            <a:cxnSpLocks/>
          </p:cNvCxnSpPr>
          <p:nvPr/>
        </p:nvCxnSpPr>
        <p:spPr>
          <a:xfrm flipV="1">
            <a:off x="5556250" y="2993231"/>
            <a:ext cx="862698" cy="62477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5AE181B-20ED-4973-BF40-954CBC1F7A6E}"/>
              </a:ext>
            </a:extLst>
          </p:cNvPr>
          <p:cNvCxnSpPr>
            <a:cxnSpLocks/>
          </p:cNvCxnSpPr>
          <p:nvPr/>
        </p:nvCxnSpPr>
        <p:spPr>
          <a:xfrm>
            <a:off x="4159686" y="2894806"/>
            <a:ext cx="100012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4A21D86-0503-4DC7-8426-1B403584B491}"/>
              </a:ext>
            </a:extLst>
          </p:cNvPr>
          <p:cNvCxnSpPr>
            <a:cxnSpLocks/>
          </p:cNvCxnSpPr>
          <p:nvPr/>
        </p:nvCxnSpPr>
        <p:spPr>
          <a:xfrm flipV="1">
            <a:off x="4159686" y="1943100"/>
            <a:ext cx="1593414" cy="95170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8AD1786-EED5-428D-9145-2CB08C8A4F19}"/>
              </a:ext>
            </a:extLst>
          </p:cNvPr>
          <p:cNvCxnSpPr>
            <a:cxnSpLocks/>
          </p:cNvCxnSpPr>
          <p:nvPr/>
        </p:nvCxnSpPr>
        <p:spPr>
          <a:xfrm>
            <a:off x="5547220" y="406400"/>
            <a:ext cx="0" cy="4463617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75512F2-88E4-4711-8AE2-0B6E5A53075A}"/>
              </a:ext>
            </a:extLst>
          </p:cNvPr>
          <p:cNvCxnSpPr>
            <a:cxnSpLocks/>
          </p:cNvCxnSpPr>
          <p:nvPr/>
        </p:nvCxnSpPr>
        <p:spPr>
          <a:xfrm flipH="1">
            <a:off x="3026251" y="3293151"/>
            <a:ext cx="7054849" cy="0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74A4DDF-E828-473E-8617-08603E5AED82}"/>
              </a:ext>
            </a:extLst>
          </p:cNvPr>
          <p:cNvCxnSpPr>
            <a:cxnSpLocks/>
          </p:cNvCxnSpPr>
          <p:nvPr/>
        </p:nvCxnSpPr>
        <p:spPr>
          <a:xfrm>
            <a:off x="5998070" y="609600"/>
            <a:ext cx="0" cy="4463617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AC61C3D-CFAC-4069-8935-C65D7370D012}"/>
              </a:ext>
            </a:extLst>
          </p:cNvPr>
          <p:cNvCxnSpPr>
            <a:cxnSpLocks/>
          </p:cNvCxnSpPr>
          <p:nvPr/>
        </p:nvCxnSpPr>
        <p:spPr>
          <a:xfrm flipH="1">
            <a:off x="2463801" y="3621176"/>
            <a:ext cx="7054849" cy="0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E03BA08-C1AD-4E22-B393-155FDFF65173}"/>
              </a:ext>
            </a:extLst>
          </p:cNvPr>
          <p:cNvCxnSpPr/>
          <p:nvPr/>
        </p:nvCxnSpPr>
        <p:spPr>
          <a:xfrm>
            <a:off x="6203950" y="3165475"/>
            <a:ext cx="214998" cy="452526"/>
          </a:xfrm>
          <a:prstGeom prst="straightConnector1">
            <a:avLst/>
          </a:prstGeom>
          <a:ln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88233C3-4C06-482B-BF82-D6F71027CBC3}"/>
              </a:ext>
            </a:extLst>
          </p:cNvPr>
          <p:cNvSpPr txBox="1"/>
          <p:nvPr/>
        </p:nvSpPr>
        <p:spPr>
          <a:xfrm>
            <a:off x="6256247" y="3210570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/>
              <a:t>α</a:t>
            </a:r>
            <a:endParaRPr lang="en-US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78846C7-8047-4B8E-8BFD-FA5FC463B23C}"/>
              </a:ext>
            </a:extLst>
          </p:cNvPr>
          <p:cNvCxnSpPr>
            <a:cxnSpLocks/>
          </p:cNvCxnSpPr>
          <p:nvPr/>
        </p:nvCxnSpPr>
        <p:spPr>
          <a:xfrm>
            <a:off x="4782382" y="2513974"/>
            <a:ext cx="167158" cy="375559"/>
          </a:xfrm>
          <a:prstGeom prst="straightConnector1">
            <a:avLst/>
          </a:prstGeom>
          <a:ln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948412C-C013-469E-8A31-D2A550E0B78D}"/>
              </a:ext>
            </a:extLst>
          </p:cNvPr>
          <p:cNvSpPr txBox="1"/>
          <p:nvPr/>
        </p:nvSpPr>
        <p:spPr>
          <a:xfrm>
            <a:off x="4805763" y="243957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/>
              <a:t>β</a:t>
            </a:r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0ECDAC7-15F5-481D-94DD-559CD34F5738}"/>
              </a:ext>
            </a:extLst>
          </p:cNvPr>
          <p:cNvCxnSpPr>
            <a:endCxn id="20" idx="1"/>
          </p:cNvCxnSpPr>
          <p:nvPr/>
        </p:nvCxnSpPr>
        <p:spPr>
          <a:xfrm flipV="1">
            <a:off x="4876800" y="3646296"/>
            <a:ext cx="651406" cy="9352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790A058-6190-462F-A2BA-4C72EDE14A2A}"/>
              </a:ext>
            </a:extLst>
          </p:cNvPr>
          <p:cNvSpPr txBox="1"/>
          <p:nvPr/>
        </p:nvSpPr>
        <p:spPr>
          <a:xfrm>
            <a:off x="4155088" y="4559459"/>
            <a:ext cx="9412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Origin = 0, 0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1A6C28B-C313-43DD-A1C2-EC3969BF761A}"/>
              </a:ext>
            </a:extLst>
          </p:cNvPr>
          <p:cNvCxnSpPr>
            <a:cxnSpLocks/>
          </p:cNvCxnSpPr>
          <p:nvPr/>
        </p:nvCxnSpPr>
        <p:spPr>
          <a:xfrm flipH="1">
            <a:off x="6053138" y="2146503"/>
            <a:ext cx="500538" cy="10777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82DAB94A-CA06-4248-B741-178F38B1C63B}"/>
              </a:ext>
            </a:extLst>
          </p:cNvPr>
          <p:cNvSpPr txBox="1"/>
          <p:nvPr/>
        </p:nvSpPr>
        <p:spPr>
          <a:xfrm>
            <a:off x="6456494" y="1922102"/>
            <a:ext cx="26307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ServoPoint</a:t>
            </a:r>
            <a:r>
              <a:rPr lang="en-US" sz="1200" dirty="0"/>
              <a:t> =  [SAL*COS(</a:t>
            </a:r>
            <a:r>
              <a:rPr lang="el-GR" sz="1200" dirty="0"/>
              <a:t>α</a:t>
            </a:r>
            <a:r>
              <a:rPr lang="en-US" sz="1200" dirty="0"/>
              <a:t>), SAL*SIN(</a:t>
            </a:r>
            <a:r>
              <a:rPr lang="el-GR" sz="1200" dirty="0"/>
              <a:t>α</a:t>
            </a:r>
            <a:r>
              <a:rPr lang="en-US" sz="1200" dirty="0"/>
              <a:t>)]</a:t>
            </a:r>
          </a:p>
        </p:txBody>
      </p:sp>
    </p:spTree>
    <p:extLst>
      <p:ext uri="{BB962C8B-B14F-4D97-AF65-F5344CB8AC3E}">
        <p14:creationId xmlns:p14="http://schemas.microsoft.com/office/powerpoint/2010/main" val="4077310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C05352C-AC60-47A4-8757-00D4C47804DD}"/>
              </a:ext>
            </a:extLst>
          </p:cNvPr>
          <p:cNvCxnSpPr/>
          <p:nvPr/>
        </p:nvCxnSpPr>
        <p:spPr>
          <a:xfrm>
            <a:off x="1772653" y="3930316"/>
            <a:ext cx="85905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547C30D4-1312-4B98-9CD4-3A05CAA83863}"/>
              </a:ext>
            </a:extLst>
          </p:cNvPr>
          <p:cNvSpPr/>
          <p:nvPr/>
        </p:nvSpPr>
        <p:spPr>
          <a:xfrm>
            <a:off x="3593432" y="2662989"/>
            <a:ext cx="1147010" cy="1259306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365D40B-AAC7-44FC-8C5F-234BD32A31F0}"/>
              </a:ext>
            </a:extLst>
          </p:cNvPr>
          <p:cNvSpPr/>
          <p:nvPr/>
        </p:nvSpPr>
        <p:spPr>
          <a:xfrm>
            <a:off x="4121150" y="2844800"/>
            <a:ext cx="88900" cy="8890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BE01F81-6ADC-47B4-A3BA-4861F75DA2AA}"/>
              </a:ext>
            </a:extLst>
          </p:cNvPr>
          <p:cNvGrpSpPr/>
          <p:nvPr/>
        </p:nvGrpSpPr>
        <p:grpSpPr>
          <a:xfrm rot="2310916">
            <a:off x="3817619" y="1318721"/>
            <a:ext cx="2362200" cy="2194539"/>
            <a:chOff x="3322321" y="988522"/>
            <a:chExt cx="2362200" cy="2194539"/>
          </a:xfrm>
        </p:grpSpPr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B1367BFC-0C5E-419E-826F-39610959B953}"/>
                </a:ext>
              </a:extLst>
            </p:cNvPr>
            <p:cNvSpPr/>
            <p:nvPr/>
          </p:nvSpPr>
          <p:spPr>
            <a:xfrm rot="12110198">
              <a:off x="3322321" y="988522"/>
              <a:ext cx="2362200" cy="2194539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18095B0-ECEB-4651-9CEE-218D8D7AA5DD}"/>
                </a:ext>
              </a:extLst>
            </p:cNvPr>
            <p:cNvSpPr/>
            <p:nvPr/>
          </p:nvSpPr>
          <p:spPr>
            <a:xfrm>
              <a:off x="4695992" y="1368241"/>
              <a:ext cx="88900" cy="889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300E4022-99C7-48D0-9B02-7421D9C5DD02}"/>
              </a:ext>
            </a:extLst>
          </p:cNvPr>
          <p:cNvSpPr/>
          <p:nvPr/>
        </p:nvSpPr>
        <p:spPr>
          <a:xfrm>
            <a:off x="5404326" y="3449372"/>
            <a:ext cx="850900" cy="36829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EBF3A07-29DE-4B86-A265-7725B1CD46C1}"/>
              </a:ext>
            </a:extLst>
          </p:cNvPr>
          <p:cNvSpPr/>
          <p:nvPr/>
        </p:nvSpPr>
        <p:spPr>
          <a:xfrm>
            <a:off x="5518625" y="3576726"/>
            <a:ext cx="88900" cy="8890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292888E-3B3B-49F6-8A6C-8F09A400EEB1}"/>
              </a:ext>
            </a:extLst>
          </p:cNvPr>
          <p:cNvSpPr/>
          <p:nvPr/>
        </p:nvSpPr>
        <p:spPr>
          <a:xfrm rot="19432914">
            <a:off x="5467718" y="3421889"/>
            <a:ext cx="629444" cy="77788"/>
          </a:xfrm>
          <a:prstGeom prst="roundRect">
            <a:avLst>
              <a:gd name="adj" fmla="val 50000"/>
            </a:avLst>
          </a:prstGeom>
          <a:solidFill>
            <a:schemeClr val="accent1">
              <a:alpha val="3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6232B19-A807-4408-85CD-AEDDA4C36940}"/>
              </a:ext>
            </a:extLst>
          </p:cNvPr>
          <p:cNvSpPr/>
          <p:nvPr/>
        </p:nvSpPr>
        <p:spPr>
          <a:xfrm rot="15116503">
            <a:off x="5097670" y="2620100"/>
            <a:ext cx="1399079" cy="83078"/>
          </a:xfrm>
          <a:prstGeom prst="roundRect">
            <a:avLst>
              <a:gd name="adj" fmla="val 50000"/>
            </a:avLst>
          </a:prstGeom>
          <a:solidFill>
            <a:schemeClr val="accent1">
              <a:alpha val="3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8FD3547C-3232-4C21-B59C-326BB13E183C}"/>
              </a:ext>
            </a:extLst>
          </p:cNvPr>
          <p:cNvSpPr/>
          <p:nvPr/>
        </p:nvSpPr>
        <p:spPr>
          <a:xfrm>
            <a:off x="5964649" y="3248192"/>
            <a:ext cx="88900" cy="8890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5C45723-5BF1-4204-A579-380AEA6D374E}"/>
              </a:ext>
            </a:extLst>
          </p:cNvPr>
          <p:cNvGrpSpPr/>
          <p:nvPr/>
        </p:nvGrpSpPr>
        <p:grpSpPr>
          <a:xfrm>
            <a:off x="3952271" y="1705520"/>
            <a:ext cx="1696494" cy="1205980"/>
            <a:chOff x="3952271" y="1705520"/>
            <a:chExt cx="1696494" cy="1205980"/>
          </a:xfrm>
        </p:grpSpPr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59AA4F41-BDBB-489F-8E8C-60C6947BD6D7}"/>
                </a:ext>
              </a:extLst>
            </p:cNvPr>
            <p:cNvCxnSpPr/>
            <p:nvPr/>
          </p:nvCxnSpPr>
          <p:spPr>
            <a:xfrm rot="19731193">
              <a:off x="4074550" y="2568600"/>
              <a:ext cx="0" cy="342900"/>
            </a:xfrm>
            <a:prstGeom prst="line">
              <a:avLst/>
            </a:prstGeom>
            <a:ln w="1905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E4259FBB-0D54-4718-9756-4B7ABACFB782}"/>
                </a:ext>
              </a:extLst>
            </p:cNvPr>
            <p:cNvCxnSpPr/>
            <p:nvPr/>
          </p:nvCxnSpPr>
          <p:spPr>
            <a:xfrm rot="19731193">
              <a:off x="5502657" y="1705520"/>
              <a:ext cx="0" cy="342900"/>
            </a:xfrm>
            <a:prstGeom prst="line">
              <a:avLst/>
            </a:prstGeom>
            <a:ln w="1905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345D7A6B-15B8-486A-B766-66385D2E1EFE}"/>
                </a:ext>
              </a:extLst>
            </p:cNvPr>
            <p:cNvCxnSpPr/>
            <p:nvPr/>
          </p:nvCxnSpPr>
          <p:spPr>
            <a:xfrm rot="19731193">
              <a:off x="3952271" y="2301310"/>
              <a:ext cx="1696494" cy="0"/>
            </a:xfrm>
            <a:prstGeom prst="straightConnector1">
              <a:avLst/>
            </a:prstGeom>
            <a:ln w="19050">
              <a:solidFill>
                <a:srgbClr val="92D05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5AC0D876-464F-4FCC-83F6-7441B16D2F0B}"/>
                </a:ext>
              </a:extLst>
            </p:cNvPr>
            <p:cNvSpPr txBox="1"/>
            <p:nvPr/>
          </p:nvSpPr>
          <p:spPr>
            <a:xfrm rot="19731193">
              <a:off x="4548023" y="2070383"/>
              <a:ext cx="437940" cy="276999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92D050"/>
                  </a:solidFill>
                </a:rPr>
                <a:t>SPO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5DBE697-4D2A-433B-8A96-06108BEFB651}"/>
              </a:ext>
            </a:extLst>
          </p:cNvPr>
          <p:cNvGrpSpPr/>
          <p:nvPr/>
        </p:nvGrpSpPr>
        <p:grpSpPr>
          <a:xfrm>
            <a:off x="5567814" y="1934004"/>
            <a:ext cx="772097" cy="1359023"/>
            <a:chOff x="5567814" y="1934004"/>
            <a:chExt cx="772097" cy="1359023"/>
          </a:xfrm>
        </p:grpSpPr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6B13EBF6-A208-43FE-8E96-D1419AC1624E}"/>
                </a:ext>
              </a:extLst>
            </p:cNvPr>
            <p:cNvCxnSpPr/>
            <p:nvPr/>
          </p:nvCxnSpPr>
          <p:spPr>
            <a:xfrm rot="4276296">
              <a:off x="5739264" y="1798534"/>
              <a:ext cx="0" cy="342900"/>
            </a:xfrm>
            <a:prstGeom prst="line">
              <a:avLst/>
            </a:prstGeom>
            <a:ln w="15875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5B4450FE-B455-4272-9F82-375F470902D2}"/>
                </a:ext>
              </a:extLst>
            </p:cNvPr>
            <p:cNvCxnSpPr/>
            <p:nvPr/>
          </p:nvCxnSpPr>
          <p:spPr>
            <a:xfrm rot="4276296">
              <a:off x="6168461" y="3064475"/>
              <a:ext cx="0" cy="342900"/>
            </a:xfrm>
            <a:prstGeom prst="line">
              <a:avLst/>
            </a:prstGeom>
            <a:ln w="15875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A82A5CE1-A654-4565-A340-5F2045649916}"/>
                </a:ext>
              </a:extLst>
            </p:cNvPr>
            <p:cNvCxnSpPr/>
            <p:nvPr/>
          </p:nvCxnSpPr>
          <p:spPr>
            <a:xfrm rot="4276296">
              <a:off x="5277931" y="2613516"/>
              <a:ext cx="1359023" cy="0"/>
            </a:xfrm>
            <a:prstGeom prst="straightConnector1">
              <a:avLst/>
            </a:prstGeom>
            <a:ln w="15875">
              <a:solidFill>
                <a:srgbClr val="92D05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7E32C117-BEDC-4989-BF72-E48792147EE0}"/>
                </a:ext>
              </a:extLst>
            </p:cNvPr>
            <p:cNvSpPr txBox="1"/>
            <p:nvPr/>
          </p:nvSpPr>
          <p:spPr>
            <a:xfrm rot="4276296">
              <a:off x="5844926" y="2458555"/>
              <a:ext cx="417547" cy="276999"/>
            </a:xfrm>
            <a:prstGeom prst="rect">
              <a:avLst/>
            </a:prstGeom>
            <a:noFill/>
            <a:ln w="15875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92D050"/>
                  </a:solidFill>
                </a:rPr>
                <a:t>SPL</a:t>
              </a:r>
            </a:p>
          </p:txBody>
        </p:sp>
      </p:grp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63538BE2-2902-444E-84E1-4025D9965196}"/>
              </a:ext>
            </a:extLst>
          </p:cNvPr>
          <p:cNvCxnSpPr>
            <a:cxnSpLocks/>
          </p:cNvCxnSpPr>
          <p:nvPr/>
        </p:nvCxnSpPr>
        <p:spPr>
          <a:xfrm flipH="1">
            <a:off x="6053138" y="2146503"/>
            <a:ext cx="500538" cy="10777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C5BE7BCF-CC50-4D0E-A0EC-9000F998566D}"/>
              </a:ext>
            </a:extLst>
          </p:cNvPr>
          <p:cNvSpPr txBox="1"/>
          <p:nvPr/>
        </p:nvSpPr>
        <p:spPr>
          <a:xfrm>
            <a:off x="6456494" y="1922102"/>
            <a:ext cx="33790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ServoPoint</a:t>
            </a:r>
            <a:r>
              <a:rPr lang="en-US" sz="1200" dirty="0"/>
              <a:t> =  [SPX = SAL*COS(</a:t>
            </a:r>
            <a:r>
              <a:rPr lang="el-GR" sz="1200" dirty="0"/>
              <a:t>α</a:t>
            </a:r>
            <a:r>
              <a:rPr lang="en-US" sz="1200" dirty="0"/>
              <a:t>), SPY = SAL*SIN(</a:t>
            </a:r>
            <a:r>
              <a:rPr lang="el-GR" sz="1200" dirty="0"/>
              <a:t>α</a:t>
            </a:r>
            <a:r>
              <a:rPr lang="en-US" sz="1200" dirty="0"/>
              <a:t>)]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158C826D-C722-4D5B-8612-10EFB0EB14A4}"/>
              </a:ext>
            </a:extLst>
          </p:cNvPr>
          <p:cNvCxnSpPr>
            <a:cxnSpLocks/>
          </p:cNvCxnSpPr>
          <p:nvPr/>
        </p:nvCxnSpPr>
        <p:spPr>
          <a:xfrm>
            <a:off x="3882334" y="2248524"/>
            <a:ext cx="268323" cy="5838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ABB7495B-375A-4945-B337-2518B3592819}"/>
              </a:ext>
            </a:extLst>
          </p:cNvPr>
          <p:cNvSpPr txBox="1"/>
          <p:nvPr/>
        </p:nvSpPr>
        <p:spPr>
          <a:xfrm>
            <a:off x="2769530" y="1946013"/>
            <a:ext cx="15184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TiltPoint</a:t>
            </a:r>
            <a:r>
              <a:rPr lang="en-US" sz="1200" dirty="0"/>
              <a:t> =  [TPX, TPY]</a:t>
            </a:r>
            <a:br>
              <a:rPr lang="en-US" sz="1200" dirty="0"/>
            </a:br>
            <a:r>
              <a:rPr lang="en-US" sz="1200" dirty="0"/>
              <a:t>TPX = 72mm</a:t>
            </a:r>
            <a:br>
              <a:rPr lang="en-US" sz="1200" dirty="0"/>
            </a:br>
            <a:r>
              <a:rPr lang="en-US" sz="1200" dirty="0"/>
              <a:t>TPY = 41mm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437BE7D-225F-4D13-A764-8D44ED0BD49F}"/>
              </a:ext>
            </a:extLst>
          </p:cNvPr>
          <p:cNvGrpSpPr/>
          <p:nvPr/>
        </p:nvGrpSpPr>
        <p:grpSpPr>
          <a:xfrm>
            <a:off x="4087730" y="2871229"/>
            <a:ext cx="1936808" cy="787161"/>
            <a:chOff x="4087730" y="2871229"/>
            <a:chExt cx="1936808" cy="787161"/>
          </a:xfrm>
        </p:grpSpPr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E1546BF6-E06E-47E6-8D8C-DDBAD96FCD22}"/>
                </a:ext>
              </a:extLst>
            </p:cNvPr>
            <p:cNvCxnSpPr/>
            <p:nvPr/>
          </p:nvCxnSpPr>
          <p:spPr>
            <a:xfrm rot="809152">
              <a:off x="4114431" y="2871229"/>
              <a:ext cx="0" cy="342900"/>
            </a:xfrm>
            <a:prstGeom prst="line">
              <a:avLst/>
            </a:prstGeom>
            <a:ln w="1905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D924D8C3-96F5-4C40-BC63-FA98D0985138}"/>
                </a:ext>
              </a:extLst>
            </p:cNvPr>
            <p:cNvCxnSpPr/>
            <p:nvPr/>
          </p:nvCxnSpPr>
          <p:spPr>
            <a:xfrm rot="809152">
              <a:off x="5966926" y="3315490"/>
              <a:ext cx="0" cy="342900"/>
            </a:xfrm>
            <a:prstGeom prst="line">
              <a:avLst/>
            </a:prstGeom>
            <a:ln w="1905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4D47D1D4-9FFD-455B-B3AE-2EB9C8E7E1EB}"/>
                </a:ext>
              </a:extLst>
            </p:cNvPr>
            <p:cNvCxnSpPr/>
            <p:nvPr/>
          </p:nvCxnSpPr>
          <p:spPr>
            <a:xfrm rot="809152">
              <a:off x="4087730" y="3268516"/>
              <a:ext cx="1936808" cy="0"/>
            </a:xfrm>
            <a:prstGeom prst="straightConnector1">
              <a:avLst/>
            </a:prstGeom>
            <a:ln w="19050">
              <a:solidFill>
                <a:srgbClr val="92D05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283EED34-7A30-4B16-9FEB-1D70ACA79F14}"/>
                </a:ext>
              </a:extLst>
            </p:cNvPr>
            <p:cNvSpPr txBox="1"/>
            <p:nvPr/>
          </p:nvSpPr>
          <p:spPr>
            <a:xfrm rot="809152">
              <a:off x="4890044" y="3041321"/>
              <a:ext cx="419591" cy="276999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92D050"/>
                  </a:solidFill>
                </a:rPr>
                <a:t>RSL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06E5BA54-0BC6-4C03-8BC5-9BA65CB9E056}"/>
              </a:ext>
            </a:extLst>
          </p:cNvPr>
          <p:cNvSpPr txBox="1"/>
          <p:nvPr/>
        </p:nvSpPr>
        <p:spPr>
          <a:xfrm>
            <a:off x="3670769" y="4140242"/>
            <a:ext cx="39730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RSL= sqrt((SPX-TPX)^2 + (SPY-TPY)^2)</a:t>
            </a:r>
          </a:p>
          <a:p>
            <a:r>
              <a:rPr lang="en-US" sz="1200" dirty="0"/>
              <a:t>Given…</a:t>
            </a:r>
          </a:p>
          <a:p>
            <a:r>
              <a:rPr lang="en-US" sz="1200" dirty="0"/>
              <a:t>	c^2 = a^2+b^2-2abCOS(C)</a:t>
            </a:r>
          </a:p>
          <a:p>
            <a:r>
              <a:rPr lang="en-US" sz="1200" dirty="0"/>
              <a:t>Hence</a:t>
            </a:r>
            <a:br>
              <a:rPr lang="en-US" sz="1200" dirty="0"/>
            </a:br>
            <a:r>
              <a:rPr lang="en-US" sz="1200" dirty="0"/>
              <a:t>	C = COS</a:t>
            </a:r>
            <a:r>
              <a:rPr lang="en-US" sz="1200" baseline="30000" dirty="0"/>
              <a:t>-1</a:t>
            </a:r>
            <a:r>
              <a:rPr lang="en-US" sz="1200" dirty="0"/>
              <a:t>((a^2+b^2-c^2)/(2ab))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8260E36-B2D9-47CF-B4B6-42E17D0091D4}"/>
              </a:ext>
            </a:extLst>
          </p:cNvPr>
          <p:cNvCxnSpPr>
            <a:cxnSpLocks/>
          </p:cNvCxnSpPr>
          <p:nvPr/>
        </p:nvCxnSpPr>
        <p:spPr>
          <a:xfrm flipV="1">
            <a:off x="4162425" y="2024063"/>
            <a:ext cx="1438275" cy="863115"/>
          </a:xfrm>
          <a:prstGeom prst="line">
            <a:avLst/>
          </a:prstGeom>
          <a:ln w="190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3B62EC5E-5419-452A-92FA-78B1DBB9D6DE}"/>
              </a:ext>
            </a:extLst>
          </p:cNvPr>
          <p:cNvCxnSpPr>
            <a:cxnSpLocks/>
          </p:cNvCxnSpPr>
          <p:nvPr/>
        </p:nvCxnSpPr>
        <p:spPr>
          <a:xfrm flipH="1" flipV="1">
            <a:off x="5600700" y="2038351"/>
            <a:ext cx="409575" cy="1262062"/>
          </a:xfrm>
          <a:prstGeom prst="line">
            <a:avLst/>
          </a:prstGeom>
          <a:ln w="190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A2F8896E-A200-4A18-86DB-7EA7A1713838}"/>
              </a:ext>
            </a:extLst>
          </p:cNvPr>
          <p:cNvCxnSpPr>
            <a:cxnSpLocks/>
          </p:cNvCxnSpPr>
          <p:nvPr/>
        </p:nvCxnSpPr>
        <p:spPr>
          <a:xfrm>
            <a:off x="4167188" y="2900363"/>
            <a:ext cx="1852612" cy="395287"/>
          </a:xfrm>
          <a:prstGeom prst="line">
            <a:avLst/>
          </a:prstGeom>
          <a:ln w="190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C5601E1-32D5-42F5-9ED0-06269297FB96}"/>
              </a:ext>
            </a:extLst>
          </p:cNvPr>
          <p:cNvCxnSpPr>
            <a:cxnSpLocks/>
          </p:cNvCxnSpPr>
          <p:nvPr/>
        </p:nvCxnSpPr>
        <p:spPr>
          <a:xfrm flipH="1">
            <a:off x="3593432" y="3296972"/>
            <a:ext cx="303120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1A71BF54-BD71-4231-987C-C938B8634419}"/>
              </a:ext>
            </a:extLst>
          </p:cNvPr>
          <p:cNvCxnSpPr>
            <a:cxnSpLocks/>
          </p:cNvCxnSpPr>
          <p:nvPr/>
        </p:nvCxnSpPr>
        <p:spPr>
          <a:xfrm>
            <a:off x="4160170" y="2721440"/>
            <a:ext cx="0" cy="90890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401886EF-B950-4FC6-939C-00E8C962D03A}"/>
              </a:ext>
            </a:extLst>
          </p:cNvPr>
          <p:cNvSpPr txBox="1"/>
          <p:nvPr/>
        </p:nvSpPr>
        <p:spPr>
          <a:xfrm>
            <a:off x="4289695" y="2706931"/>
            <a:ext cx="2744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1A6C4CA-92DE-4A96-81CD-8432FD7B6B01}"/>
              </a:ext>
            </a:extLst>
          </p:cNvPr>
          <p:cNvSpPr txBox="1"/>
          <p:nvPr/>
        </p:nvSpPr>
        <p:spPr>
          <a:xfrm>
            <a:off x="5385659" y="2069865"/>
            <a:ext cx="2744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B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32D72E0-EE2E-4863-B1ED-B1CB29A5A3D6}"/>
              </a:ext>
            </a:extLst>
          </p:cNvPr>
          <p:cNvSpPr txBox="1"/>
          <p:nvPr/>
        </p:nvSpPr>
        <p:spPr>
          <a:xfrm>
            <a:off x="5682490" y="2993235"/>
            <a:ext cx="2744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09CAB6B-6C07-4049-8D5D-F50867B4B282}"/>
              </a:ext>
            </a:extLst>
          </p:cNvPr>
          <p:cNvSpPr txBox="1"/>
          <p:nvPr/>
        </p:nvSpPr>
        <p:spPr>
          <a:xfrm>
            <a:off x="4797076" y="2277490"/>
            <a:ext cx="2584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CD68A1D-99FE-478A-9B58-E9ABD45DB4F8}"/>
              </a:ext>
            </a:extLst>
          </p:cNvPr>
          <p:cNvSpPr txBox="1"/>
          <p:nvPr/>
        </p:nvSpPr>
        <p:spPr>
          <a:xfrm>
            <a:off x="5655655" y="2434434"/>
            <a:ext cx="2584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6001BB5-AE7F-4964-8A1D-AD05DD30682E}"/>
              </a:ext>
            </a:extLst>
          </p:cNvPr>
          <p:cNvSpPr txBox="1"/>
          <p:nvPr/>
        </p:nvSpPr>
        <p:spPr>
          <a:xfrm>
            <a:off x="5041286" y="2943628"/>
            <a:ext cx="2648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923887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C05352C-AC60-47A4-8757-00D4C47804DD}"/>
              </a:ext>
            </a:extLst>
          </p:cNvPr>
          <p:cNvCxnSpPr/>
          <p:nvPr/>
        </p:nvCxnSpPr>
        <p:spPr>
          <a:xfrm>
            <a:off x="1772653" y="3930316"/>
            <a:ext cx="85905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547C30D4-1312-4B98-9CD4-3A05CAA83863}"/>
              </a:ext>
            </a:extLst>
          </p:cNvPr>
          <p:cNvSpPr/>
          <p:nvPr/>
        </p:nvSpPr>
        <p:spPr>
          <a:xfrm>
            <a:off x="3593432" y="2662989"/>
            <a:ext cx="1147010" cy="1259306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365D40B-AAC7-44FC-8C5F-234BD32A31F0}"/>
              </a:ext>
            </a:extLst>
          </p:cNvPr>
          <p:cNvSpPr/>
          <p:nvPr/>
        </p:nvSpPr>
        <p:spPr>
          <a:xfrm>
            <a:off x="4121150" y="2844800"/>
            <a:ext cx="88900" cy="8890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BE01F81-6ADC-47B4-A3BA-4861F75DA2AA}"/>
              </a:ext>
            </a:extLst>
          </p:cNvPr>
          <p:cNvGrpSpPr/>
          <p:nvPr/>
        </p:nvGrpSpPr>
        <p:grpSpPr>
          <a:xfrm rot="2310916">
            <a:off x="3817619" y="1318721"/>
            <a:ext cx="2362200" cy="2194539"/>
            <a:chOff x="3322321" y="988522"/>
            <a:chExt cx="2362200" cy="2194539"/>
          </a:xfrm>
        </p:grpSpPr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B1367BFC-0C5E-419E-826F-39610959B953}"/>
                </a:ext>
              </a:extLst>
            </p:cNvPr>
            <p:cNvSpPr/>
            <p:nvPr/>
          </p:nvSpPr>
          <p:spPr>
            <a:xfrm rot="12110198">
              <a:off x="3322321" y="988522"/>
              <a:ext cx="2362200" cy="2194539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18095B0-ECEB-4651-9CEE-218D8D7AA5DD}"/>
                </a:ext>
              </a:extLst>
            </p:cNvPr>
            <p:cNvSpPr/>
            <p:nvPr/>
          </p:nvSpPr>
          <p:spPr>
            <a:xfrm>
              <a:off x="4695992" y="1368241"/>
              <a:ext cx="88900" cy="889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300E4022-99C7-48D0-9B02-7421D9C5DD02}"/>
              </a:ext>
            </a:extLst>
          </p:cNvPr>
          <p:cNvSpPr/>
          <p:nvPr/>
        </p:nvSpPr>
        <p:spPr>
          <a:xfrm>
            <a:off x="5404326" y="3449372"/>
            <a:ext cx="850900" cy="36829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EBF3A07-29DE-4B86-A265-7725B1CD46C1}"/>
              </a:ext>
            </a:extLst>
          </p:cNvPr>
          <p:cNvSpPr/>
          <p:nvPr/>
        </p:nvSpPr>
        <p:spPr>
          <a:xfrm>
            <a:off x="5518625" y="3576726"/>
            <a:ext cx="88900" cy="8890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292888E-3B3B-49F6-8A6C-8F09A400EEB1}"/>
              </a:ext>
            </a:extLst>
          </p:cNvPr>
          <p:cNvSpPr/>
          <p:nvPr/>
        </p:nvSpPr>
        <p:spPr>
          <a:xfrm rot="19432914">
            <a:off x="5467718" y="3421889"/>
            <a:ext cx="629444" cy="77788"/>
          </a:xfrm>
          <a:prstGeom prst="roundRect">
            <a:avLst>
              <a:gd name="adj" fmla="val 50000"/>
            </a:avLst>
          </a:prstGeom>
          <a:solidFill>
            <a:schemeClr val="accent1">
              <a:alpha val="3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6232B19-A807-4408-85CD-AEDDA4C36940}"/>
              </a:ext>
            </a:extLst>
          </p:cNvPr>
          <p:cNvSpPr/>
          <p:nvPr/>
        </p:nvSpPr>
        <p:spPr>
          <a:xfrm rot="15116503">
            <a:off x="5097670" y="2620100"/>
            <a:ext cx="1399079" cy="83078"/>
          </a:xfrm>
          <a:prstGeom prst="roundRect">
            <a:avLst>
              <a:gd name="adj" fmla="val 50000"/>
            </a:avLst>
          </a:prstGeom>
          <a:solidFill>
            <a:schemeClr val="accent1">
              <a:alpha val="3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8FD3547C-3232-4C21-B59C-326BB13E183C}"/>
              </a:ext>
            </a:extLst>
          </p:cNvPr>
          <p:cNvSpPr/>
          <p:nvPr/>
        </p:nvSpPr>
        <p:spPr>
          <a:xfrm>
            <a:off x="5964649" y="3248192"/>
            <a:ext cx="88900" cy="8890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158C826D-C722-4D5B-8612-10EFB0EB14A4}"/>
              </a:ext>
            </a:extLst>
          </p:cNvPr>
          <p:cNvCxnSpPr>
            <a:cxnSpLocks/>
          </p:cNvCxnSpPr>
          <p:nvPr/>
        </p:nvCxnSpPr>
        <p:spPr>
          <a:xfrm>
            <a:off x="3882334" y="2248524"/>
            <a:ext cx="268323" cy="5838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06E5BA54-0BC6-4C03-8BC5-9BA65CB9E056}"/>
              </a:ext>
            </a:extLst>
          </p:cNvPr>
          <p:cNvSpPr txBox="1"/>
          <p:nvPr/>
        </p:nvSpPr>
        <p:spPr>
          <a:xfrm>
            <a:off x="3670769" y="4140242"/>
            <a:ext cx="397304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RSL= b = sqrt((SPX-TPX)^2 + (TPY-SPY)^2)</a:t>
            </a:r>
          </a:p>
          <a:p>
            <a:r>
              <a:rPr lang="en-US" sz="1200" dirty="0"/>
              <a:t>Given…</a:t>
            </a:r>
          </a:p>
          <a:p>
            <a:r>
              <a:rPr lang="en-US" sz="1200" dirty="0"/>
              <a:t>	c^2 = a^2+b^2-2abCOS(C)</a:t>
            </a:r>
          </a:p>
          <a:p>
            <a:r>
              <a:rPr lang="en-US" sz="1200" dirty="0"/>
              <a:t>Hence</a:t>
            </a:r>
            <a:br>
              <a:rPr lang="en-US" sz="1200" dirty="0"/>
            </a:br>
            <a:r>
              <a:rPr lang="en-US" sz="1200" dirty="0"/>
              <a:t>	C = COS</a:t>
            </a:r>
            <a:r>
              <a:rPr lang="en-US" sz="1200" baseline="30000" dirty="0"/>
              <a:t>-1</a:t>
            </a:r>
            <a:r>
              <a:rPr lang="en-US" sz="1200" dirty="0"/>
              <a:t>((a^2+b^2-c^2)/(2ab))</a:t>
            </a:r>
            <a:br>
              <a:rPr lang="en-US" sz="1200" dirty="0"/>
            </a:br>
            <a:r>
              <a:rPr lang="en-US" sz="1200" dirty="0"/>
              <a:t>And…</a:t>
            </a:r>
          </a:p>
          <a:p>
            <a:r>
              <a:rPr lang="en-US" sz="1200" dirty="0"/>
              <a:t>	D=SIN</a:t>
            </a:r>
            <a:r>
              <a:rPr lang="en-US" sz="1200" baseline="30000" dirty="0"/>
              <a:t>-1 </a:t>
            </a:r>
            <a:r>
              <a:rPr lang="en-US" sz="1200" dirty="0"/>
              <a:t>((TPY-SPY)/(RSL))</a:t>
            </a:r>
            <a:br>
              <a:rPr lang="en-US" sz="1200" dirty="0"/>
            </a:br>
            <a:r>
              <a:rPr lang="en-US" sz="1200" dirty="0"/>
              <a:t>Then…</a:t>
            </a:r>
            <a:br>
              <a:rPr lang="en-US" sz="1200" dirty="0"/>
            </a:br>
            <a:r>
              <a:rPr lang="en-US" sz="1200" dirty="0"/>
              <a:t>	Shooter Angle = C-D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8260E36-B2D9-47CF-B4B6-42E17D0091D4}"/>
              </a:ext>
            </a:extLst>
          </p:cNvPr>
          <p:cNvCxnSpPr>
            <a:cxnSpLocks/>
          </p:cNvCxnSpPr>
          <p:nvPr/>
        </p:nvCxnSpPr>
        <p:spPr>
          <a:xfrm flipV="1">
            <a:off x="4162425" y="2024063"/>
            <a:ext cx="1438275" cy="863115"/>
          </a:xfrm>
          <a:prstGeom prst="line">
            <a:avLst/>
          </a:prstGeom>
          <a:ln w="190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3B62EC5E-5419-452A-92FA-78B1DBB9D6DE}"/>
              </a:ext>
            </a:extLst>
          </p:cNvPr>
          <p:cNvCxnSpPr>
            <a:cxnSpLocks/>
          </p:cNvCxnSpPr>
          <p:nvPr/>
        </p:nvCxnSpPr>
        <p:spPr>
          <a:xfrm flipH="1" flipV="1">
            <a:off x="5600700" y="2038351"/>
            <a:ext cx="409575" cy="1262062"/>
          </a:xfrm>
          <a:prstGeom prst="line">
            <a:avLst/>
          </a:prstGeom>
          <a:ln w="190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A2F8896E-A200-4A18-86DB-7EA7A1713838}"/>
              </a:ext>
            </a:extLst>
          </p:cNvPr>
          <p:cNvCxnSpPr>
            <a:cxnSpLocks/>
          </p:cNvCxnSpPr>
          <p:nvPr/>
        </p:nvCxnSpPr>
        <p:spPr>
          <a:xfrm>
            <a:off x="4167188" y="2900363"/>
            <a:ext cx="1852612" cy="395287"/>
          </a:xfrm>
          <a:prstGeom prst="line">
            <a:avLst/>
          </a:prstGeom>
          <a:ln w="190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C5601E1-32D5-42F5-9ED0-06269297FB96}"/>
              </a:ext>
            </a:extLst>
          </p:cNvPr>
          <p:cNvCxnSpPr>
            <a:cxnSpLocks/>
          </p:cNvCxnSpPr>
          <p:nvPr/>
        </p:nvCxnSpPr>
        <p:spPr>
          <a:xfrm flipH="1">
            <a:off x="3593432" y="3296972"/>
            <a:ext cx="303120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1A71BF54-BD71-4231-987C-C938B8634419}"/>
              </a:ext>
            </a:extLst>
          </p:cNvPr>
          <p:cNvCxnSpPr>
            <a:cxnSpLocks/>
          </p:cNvCxnSpPr>
          <p:nvPr/>
        </p:nvCxnSpPr>
        <p:spPr>
          <a:xfrm>
            <a:off x="4160170" y="2721440"/>
            <a:ext cx="0" cy="90890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401886EF-B950-4FC6-939C-00E8C962D03A}"/>
              </a:ext>
            </a:extLst>
          </p:cNvPr>
          <p:cNvSpPr txBox="1"/>
          <p:nvPr/>
        </p:nvSpPr>
        <p:spPr>
          <a:xfrm>
            <a:off x="4289695" y="2706931"/>
            <a:ext cx="2744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1A6C4CA-92DE-4A96-81CD-8432FD7B6B01}"/>
              </a:ext>
            </a:extLst>
          </p:cNvPr>
          <p:cNvSpPr txBox="1"/>
          <p:nvPr/>
        </p:nvSpPr>
        <p:spPr>
          <a:xfrm>
            <a:off x="5385659" y="2069865"/>
            <a:ext cx="2744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B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32D72E0-EE2E-4863-B1ED-B1CB29A5A3D6}"/>
              </a:ext>
            </a:extLst>
          </p:cNvPr>
          <p:cNvSpPr txBox="1"/>
          <p:nvPr/>
        </p:nvSpPr>
        <p:spPr>
          <a:xfrm>
            <a:off x="5682490" y="2993235"/>
            <a:ext cx="2744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09CAB6B-6C07-4049-8D5D-F50867B4B282}"/>
              </a:ext>
            </a:extLst>
          </p:cNvPr>
          <p:cNvSpPr txBox="1"/>
          <p:nvPr/>
        </p:nvSpPr>
        <p:spPr>
          <a:xfrm>
            <a:off x="4797076" y="2277490"/>
            <a:ext cx="2584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CD68A1D-99FE-478A-9B58-E9ABD45DB4F8}"/>
              </a:ext>
            </a:extLst>
          </p:cNvPr>
          <p:cNvSpPr txBox="1"/>
          <p:nvPr/>
        </p:nvSpPr>
        <p:spPr>
          <a:xfrm>
            <a:off x="5655655" y="2434434"/>
            <a:ext cx="2584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6001BB5-AE7F-4964-8A1D-AD05DD30682E}"/>
              </a:ext>
            </a:extLst>
          </p:cNvPr>
          <p:cNvSpPr txBox="1"/>
          <p:nvPr/>
        </p:nvSpPr>
        <p:spPr>
          <a:xfrm>
            <a:off x="5041286" y="2943628"/>
            <a:ext cx="2648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b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8A5C8A5-9D6B-4E01-B75A-F208C8748749}"/>
              </a:ext>
            </a:extLst>
          </p:cNvPr>
          <p:cNvCxnSpPr>
            <a:cxnSpLocks/>
          </p:cNvCxnSpPr>
          <p:nvPr/>
        </p:nvCxnSpPr>
        <p:spPr>
          <a:xfrm flipH="1">
            <a:off x="3593432" y="2887396"/>
            <a:ext cx="303120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C3A9272-9B62-472F-8550-F355B5B01A22}"/>
              </a:ext>
            </a:extLst>
          </p:cNvPr>
          <p:cNvCxnSpPr/>
          <p:nvPr/>
        </p:nvCxnSpPr>
        <p:spPr>
          <a:xfrm flipV="1">
            <a:off x="5385659" y="3157538"/>
            <a:ext cx="18667" cy="1381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06C1FF0-0F7D-4410-9179-FF3543B2B3B3}"/>
              </a:ext>
            </a:extLst>
          </p:cNvPr>
          <p:cNvCxnSpPr/>
          <p:nvPr/>
        </p:nvCxnSpPr>
        <p:spPr>
          <a:xfrm flipH="1">
            <a:off x="4700588" y="2887178"/>
            <a:ext cx="39854" cy="1417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5F23EED3-FDDB-4C09-BF3A-DA2DC8E7521E}"/>
              </a:ext>
            </a:extLst>
          </p:cNvPr>
          <p:cNvSpPr txBox="1"/>
          <p:nvPr/>
        </p:nvSpPr>
        <p:spPr>
          <a:xfrm>
            <a:off x="5349895" y="3097103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1467F15-572F-40B8-8C5D-CAF30A79CAB5}"/>
              </a:ext>
            </a:extLst>
          </p:cNvPr>
          <p:cNvSpPr txBox="1"/>
          <p:nvPr/>
        </p:nvSpPr>
        <p:spPr>
          <a:xfrm>
            <a:off x="4678375" y="2823234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DB5209F-5F2F-48C4-928E-01DA27C16E81}"/>
              </a:ext>
            </a:extLst>
          </p:cNvPr>
          <p:cNvCxnSpPr>
            <a:cxnSpLocks/>
          </p:cNvCxnSpPr>
          <p:nvPr/>
        </p:nvCxnSpPr>
        <p:spPr>
          <a:xfrm flipH="1" flipV="1">
            <a:off x="4700590" y="2554490"/>
            <a:ext cx="84135" cy="328410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2A10A171-1CAB-4B0D-8FCF-383913A982BB}"/>
              </a:ext>
            </a:extLst>
          </p:cNvPr>
          <p:cNvSpPr txBox="1"/>
          <p:nvPr/>
        </p:nvSpPr>
        <p:spPr>
          <a:xfrm>
            <a:off x="4691399" y="2568431"/>
            <a:ext cx="3438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B050"/>
                </a:solidFill>
              </a:rPr>
              <a:t>SA</a:t>
            </a:r>
          </a:p>
        </p:txBody>
      </p:sp>
    </p:spTree>
    <p:extLst>
      <p:ext uri="{BB962C8B-B14F-4D97-AF65-F5344CB8AC3E}">
        <p14:creationId xmlns:p14="http://schemas.microsoft.com/office/powerpoint/2010/main" val="2344250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254</Words>
  <Application>Microsoft Office PowerPoint</Application>
  <PresentationFormat>Widescreen</PresentationFormat>
  <Paragraphs>42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Clynes, Steve</dc:creator>
  <cp:lastModifiedBy>Clynes, Steve</cp:lastModifiedBy>
  <cp:revision>27</cp:revision>
  <dcterms:created xsi:type="dcterms:W3CDTF">2025-12-08T16:41:02Z</dcterms:created>
  <dcterms:modified xsi:type="dcterms:W3CDTF">2025-12-08T20:10:03Z</dcterms:modified>
</cp:coreProperties>
</file>